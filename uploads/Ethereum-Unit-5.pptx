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9" r:id="rId4"/>
    <p:sldId id="265" r:id="rId5"/>
    <p:sldId id="264" r:id="rId6"/>
    <p:sldId id="263" r:id="rId7"/>
    <p:sldId id="262" r:id="rId8"/>
    <p:sldId id="261" r:id="rId9"/>
    <p:sldId id="260" r:id="rId10"/>
    <p:sldId id="266" r:id="rId11"/>
    <p:sldId id="267" r:id="rId12"/>
    <p:sldId id="276" r:id="rId13"/>
    <p:sldId id="275" r:id="rId14"/>
    <p:sldId id="268" r:id="rId15"/>
    <p:sldId id="269" r:id="rId16"/>
    <p:sldId id="272" r:id="rId17"/>
    <p:sldId id="271" r:id="rId18"/>
    <p:sldId id="270" r:id="rId19"/>
    <p:sldId id="273" r:id="rId20"/>
    <p:sldId id="274"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64016D-3CD4-41B7-9E54-CBA43053C51E}" v="58" dt="2026-04-16T07:38:31.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3" d="100"/>
          <a:sy n="73" d="100"/>
        </p:scale>
        <p:origin x="36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4/16/2026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40510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4/16/2026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25863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4/16/2026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00270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4/16/2026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32903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4/16/2026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90933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4/16/2026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96503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4/16/2026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98229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4/16/2026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21802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4/16/2026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8447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4/16/2026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48356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4/16/2026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89650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4/16/2026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85404096"/>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16" name="Picture 15">
            <a:extLst>
              <a:ext uri="{FF2B5EF4-FFF2-40B4-BE49-F238E27FC236}">
                <a16:creationId xmlns:a16="http://schemas.microsoft.com/office/drawing/2014/main" id="{5A2CD848-C412-DA64-8A63-951DC5660295}"/>
              </a:ext>
            </a:extLst>
          </p:cNvPr>
          <p:cNvPicPr>
            <a:picLocks noChangeAspect="1"/>
          </p:cNvPicPr>
          <p:nvPr/>
        </p:nvPicPr>
        <p:blipFill>
          <a:blip r:embed="rId2"/>
          <a:srcRect b="6250"/>
          <a:stretch>
            <a:fillRect/>
          </a:stretch>
        </p:blipFill>
        <p:spPr>
          <a:xfrm>
            <a:off x="20" y="10"/>
            <a:ext cx="12191980" cy="6857990"/>
          </a:xfrm>
          <a:prstGeom prst="rect">
            <a:avLst/>
          </a:prstGeom>
        </p:spPr>
      </p:pic>
      <p:sp>
        <p:nvSpPr>
          <p:cNvPr id="17" name="Rectangle 16">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12EF96E-6DC4-74CD-0698-43411735B6A8}"/>
              </a:ext>
            </a:extLst>
          </p:cNvPr>
          <p:cNvSpPr>
            <a:spLocks noGrp="1"/>
          </p:cNvSpPr>
          <p:nvPr>
            <p:ph type="ctrTitle"/>
          </p:nvPr>
        </p:nvSpPr>
        <p:spPr>
          <a:xfrm>
            <a:off x="785036" y="-1615430"/>
            <a:ext cx="4470544" cy="3474720"/>
          </a:xfrm>
        </p:spPr>
        <p:txBody>
          <a:bodyPr anchor="b">
            <a:normAutofit/>
          </a:bodyPr>
          <a:lstStyle/>
          <a:p>
            <a:pPr algn="l"/>
            <a:r>
              <a:rPr lang="en-US" dirty="0">
                <a:solidFill>
                  <a:srgbClr val="92D050"/>
                </a:solidFill>
              </a:rPr>
              <a:t>Ethereum</a:t>
            </a:r>
            <a:endParaRPr lang="en-US" sz="5800" dirty="0">
              <a:solidFill>
                <a:srgbClr val="92D050"/>
              </a:solidFill>
            </a:endParaRPr>
          </a:p>
        </p:txBody>
      </p:sp>
      <p:sp>
        <p:nvSpPr>
          <p:cNvPr id="3" name="Subtitle 2">
            <a:extLst>
              <a:ext uri="{FF2B5EF4-FFF2-40B4-BE49-F238E27FC236}">
                <a16:creationId xmlns:a16="http://schemas.microsoft.com/office/drawing/2014/main" id="{6CF1F496-792D-C5E6-DB6F-E821C7A66B82}"/>
              </a:ext>
            </a:extLst>
          </p:cNvPr>
          <p:cNvSpPr>
            <a:spLocks noGrp="1"/>
          </p:cNvSpPr>
          <p:nvPr>
            <p:ph type="subTitle" idx="1"/>
          </p:nvPr>
        </p:nvSpPr>
        <p:spPr>
          <a:xfrm>
            <a:off x="962103" y="2378830"/>
            <a:ext cx="4116410" cy="1386840"/>
          </a:xfrm>
        </p:spPr>
        <p:txBody>
          <a:bodyPr anchor="t">
            <a:normAutofit/>
          </a:bodyPr>
          <a:lstStyle/>
          <a:p>
            <a:pPr algn="l"/>
            <a:r>
              <a:rPr lang="en-US" sz="3200" b="1" dirty="0">
                <a:solidFill>
                  <a:srgbClr val="92D050"/>
                </a:solidFill>
              </a:rPr>
              <a:t>UNIT-5</a:t>
            </a:r>
          </a:p>
        </p:txBody>
      </p:sp>
    </p:spTree>
    <p:extLst>
      <p:ext uri="{BB962C8B-B14F-4D97-AF65-F5344CB8AC3E}">
        <p14:creationId xmlns:p14="http://schemas.microsoft.com/office/powerpoint/2010/main" val="140301028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D5A8E0-0163-5E05-E48D-EC2C3A9AF478}"/>
              </a:ext>
            </a:extLst>
          </p:cNvPr>
          <p:cNvSpPr>
            <a:spLocks noGrp="1"/>
          </p:cNvSpPr>
          <p:nvPr>
            <p:ph type="title"/>
          </p:nvPr>
        </p:nvSpPr>
        <p:spPr>
          <a:xfrm>
            <a:off x="612647" y="265837"/>
            <a:ext cx="4621553" cy="1360728"/>
          </a:xfrm>
        </p:spPr>
        <p:txBody>
          <a:bodyPr anchor="b">
            <a:normAutofit/>
          </a:bodyPr>
          <a:lstStyle/>
          <a:p>
            <a:r>
              <a:rPr lang="en-US" dirty="0"/>
              <a:t>Introduction</a:t>
            </a:r>
          </a:p>
        </p:txBody>
      </p:sp>
      <p:sp>
        <p:nvSpPr>
          <p:cNvPr id="3" name="Content Placeholder 2">
            <a:extLst>
              <a:ext uri="{FF2B5EF4-FFF2-40B4-BE49-F238E27FC236}">
                <a16:creationId xmlns:a16="http://schemas.microsoft.com/office/drawing/2014/main" id="{C916089C-E336-26E9-DA80-904B27941C36}"/>
              </a:ext>
            </a:extLst>
          </p:cNvPr>
          <p:cNvSpPr>
            <a:spLocks noGrp="1"/>
          </p:cNvSpPr>
          <p:nvPr>
            <p:ph idx="1"/>
          </p:nvPr>
        </p:nvSpPr>
        <p:spPr>
          <a:xfrm>
            <a:off x="332499" y="1892402"/>
            <a:ext cx="5518447" cy="3206692"/>
          </a:xfrm>
        </p:spPr>
        <p:txBody>
          <a:bodyPr>
            <a:normAutofit/>
          </a:bodyPr>
          <a:lstStyle/>
          <a:p>
            <a:r>
              <a:rPr lang="en-US" sz="1800" dirty="0"/>
              <a:t>The critical idea proposed was the development of a Turing-complete language that allows the development of arbitrary programs (smart contracts) for blockchain and decentralized applications. This concept is in contrast to Bitcoin, where the scripting language is limited in nature and allows only necessary operations. The different versions of </a:t>
            </a:r>
            <a:r>
              <a:rPr lang="en-US" sz="1800" dirty="0" err="1"/>
              <a:t>Etherium</a:t>
            </a:r>
            <a:r>
              <a:rPr lang="en-US" sz="1800" dirty="0"/>
              <a:t> are given in the table.</a:t>
            </a:r>
          </a:p>
        </p:txBody>
      </p:sp>
      <p:pic>
        <p:nvPicPr>
          <p:cNvPr id="5" name="Picture 4">
            <a:extLst>
              <a:ext uri="{FF2B5EF4-FFF2-40B4-BE49-F238E27FC236}">
                <a16:creationId xmlns:a16="http://schemas.microsoft.com/office/drawing/2014/main" id="{A5B106E5-CAC0-AAC3-54CE-244BA3FCDCC0}"/>
              </a:ext>
            </a:extLst>
          </p:cNvPr>
          <p:cNvPicPr>
            <a:picLocks noChangeAspect="1"/>
          </p:cNvPicPr>
          <p:nvPr/>
        </p:nvPicPr>
        <p:blipFill>
          <a:blip r:embed="rId2"/>
          <a:stretch>
            <a:fillRect/>
          </a:stretch>
        </p:blipFill>
        <p:spPr>
          <a:xfrm>
            <a:off x="6467693" y="1114923"/>
            <a:ext cx="4284915" cy="4628153"/>
          </a:xfrm>
          <a:prstGeom prst="rect">
            <a:avLst/>
          </a:prstGeom>
        </p:spPr>
      </p:pic>
    </p:spTree>
    <p:extLst>
      <p:ext uri="{BB962C8B-B14F-4D97-AF65-F5344CB8AC3E}">
        <p14:creationId xmlns:p14="http://schemas.microsoft.com/office/powerpoint/2010/main" val="3241185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E145EB-4D7D-B2D9-22A3-A014F27B3C9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09907C-774F-A098-D25E-9110BC507574}"/>
              </a:ext>
            </a:extLst>
          </p:cNvPr>
          <p:cNvSpPr>
            <a:spLocks noGrp="1"/>
          </p:cNvSpPr>
          <p:nvPr>
            <p:ph type="title"/>
          </p:nvPr>
        </p:nvSpPr>
        <p:spPr>
          <a:xfrm>
            <a:off x="612648" y="1114923"/>
            <a:ext cx="4621553" cy="1360728"/>
          </a:xfrm>
        </p:spPr>
        <p:txBody>
          <a:bodyPr anchor="b">
            <a:normAutofit/>
          </a:bodyPr>
          <a:lstStyle/>
          <a:p>
            <a:r>
              <a:rPr lang="en-US"/>
              <a:t>Ethereum – bird's eye view</a:t>
            </a:r>
          </a:p>
        </p:txBody>
      </p:sp>
      <p:sp>
        <p:nvSpPr>
          <p:cNvPr id="3" name="Content Placeholder 2">
            <a:extLst>
              <a:ext uri="{FF2B5EF4-FFF2-40B4-BE49-F238E27FC236}">
                <a16:creationId xmlns:a16="http://schemas.microsoft.com/office/drawing/2014/main" id="{F8E8A9A5-D049-FBFF-5E88-86AFB05E82CC}"/>
              </a:ext>
            </a:extLst>
          </p:cNvPr>
          <p:cNvSpPr>
            <a:spLocks noGrp="1"/>
          </p:cNvSpPr>
          <p:nvPr>
            <p:ph idx="1"/>
          </p:nvPr>
        </p:nvSpPr>
        <p:spPr>
          <a:xfrm>
            <a:off x="612648" y="2584058"/>
            <a:ext cx="4621553" cy="3159018"/>
          </a:xfrm>
        </p:spPr>
        <p:txBody>
          <a:bodyPr>
            <a:normAutofit/>
          </a:bodyPr>
          <a:lstStyle/>
          <a:p>
            <a:pPr>
              <a:lnSpc>
                <a:spcPct val="110000"/>
              </a:lnSpc>
            </a:pPr>
            <a:r>
              <a:rPr lang="en-US" sz="1700"/>
              <a:t>In this section, we will see how Ethereum works from a user's point of view. There are several steps involved in this process, which are described here:</a:t>
            </a:r>
          </a:p>
          <a:p>
            <a:pPr>
              <a:lnSpc>
                <a:spcPct val="110000"/>
              </a:lnSpc>
            </a:pPr>
            <a:r>
              <a:rPr lang="en-US" sz="1700"/>
              <a:t> 1. First either a user requests money by sending the request to the sender, or the sender decides to send money to the receiver. The request can be sent by sending the receivers Ethereum address to the sender.</a:t>
            </a:r>
          </a:p>
          <a:p>
            <a:pPr>
              <a:lnSpc>
                <a:spcPct val="110000"/>
              </a:lnSpc>
            </a:pPr>
            <a:endParaRPr lang="en-US" sz="1700"/>
          </a:p>
        </p:txBody>
      </p:sp>
      <p:pic>
        <p:nvPicPr>
          <p:cNvPr id="5" name="Picture 4">
            <a:extLst>
              <a:ext uri="{FF2B5EF4-FFF2-40B4-BE49-F238E27FC236}">
                <a16:creationId xmlns:a16="http://schemas.microsoft.com/office/drawing/2014/main" id="{EB9B0F73-C333-4A55-4229-423D465DE7AD}"/>
              </a:ext>
            </a:extLst>
          </p:cNvPr>
          <p:cNvPicPr>
            <a:picLocks noChangeAspect="1"/>
          </p:cNvPicPr>
          <p:nvPr/>
        </p:nvPicPr>
        <p:blipFill>
          <a:blip r:embed="rId2"/>
          <a:stretch>
            <a:fillRect/>
          </a:stretch>
        </p:blipFill>
        <p:spPr>
          <a:xfrm>
            <a:off x="5691261" y="1763797"/>
            <a:ext cx="5837780" cy="3330404"/>
          </a:xfrm>
          <a:prstGeom prst="rect">
            <a:avLst/>
          </a:prstGeom>
        </p:spPr>
      </p:pic>
    </p:spTree>
    <p:extLst>
      <p:ext uri="{BB962C8B-B14F-4D97-AF65-F5344CB8AC3E}">
        <p14:creationId xmlns:p14="http://schemas.microsoft.com/office/powerpoint/2010/main" val="2607991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0EBD4B-A6F7-B95D-E39C-185B16DACAD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CD116C-E7B7-E30A-AF93-E45DA696A351}"/>
              </a:ext>
            </a:extLst>
          </p:cNvPr>
          <p:cNvSpPr>
            <a:spLocks noGrp="1"/>
          </p:cNvSpPr>
          <p:nvPr>
            <p:ph idx="1"/>
          </p:nvPr>
        </p:nvSpPr>
        <p:spPr>
          <a:xfrm>
            <a:off x="569105" y="1480458"/>
            <a:ext cx="5862396" cy="5471160"/>
          </a:xfrm>
        </p:spPr>
        <p:txBody>
          <a:bodyPr>
            <a:normAutofit/>
          </a:bodyPr>
          <a:lstStyle/>
          <a:p>
            <a:pPr marL="0" indent="0">
              <a:buNone/>
            </a:pPr>
            <a:r>
              <a:rPr lang="en-US" sz="1800" dirty="0"/>
              <a:t>2. Once the sender receives this request, he will either scan this QR code or copy the Ethereum address in the Ethereum wallet software and initiate a transaction. This process is shown in the following screenshot, where the Jaxx Ethereum wallet software on iOS is used to send money.</a:t>
            </a:r>
          </a:p>
          <a:p>
            <a:r>
              <a:rPr lang="en-US" sz="1800" dirty="0"/>
              <a:t>The following screenshot shows that the sender has entered both the amount and destination address for sending Ether. Just before sending the Ether, the final step is to confirm the transaction, which is also shown here:</a:t>
            </a:r>
          </a:p>
        </p:txBody>
      </p:sp>
      <p:pic>
        <p:nvPicPr>
          <p:cNvPr id="5" name="Picture 4">
            <a:extLst>
              <a:ext uri="{FF2B5EF4-FFF2-40B4-BE49-F238E27FC236}">
                <a16:creationId xmlns:a16="http://schemas.microsoft.com/office/drawing/2014/main" id="{B7D60C74-051E-0164-BF49-EE48D18A78B9}"/>
              </a:ext>
            </a:extLst>
          </p:cNvPr>
          <p:cNvPicPr>
            <a:picLocks noChangeAspect="1"/>
          </p:cNvPicPr>
          <p:nvPr/>
        </p:nvPicPr>
        <p:blipFill>
          <a:blip r:embed="rId2"/>
          <a:stretch>
            <a:fillRect/>
          </a:stretch>
        </p:blipFill>
        <p:spPr>
          <a:xfrm>
            <a:off x="7649004" y="433384"/>
            <a:ext cx="3566288" cy="6019618"/>
          </a:xfrm>
          <a:prstGeom prst="rect">
            <a:avLst/>
          </a:prstGeom>
        </p:spPr>
      </p:pic>
    </p:spTree>
    <p:extLst>
      <p:ext uri="{BB962C8B-B14F-4D97-AF65-F5344CB8AC3E}">
        <p14:creationId xmlns:p14="http://schemas.microsoft.com/office/powerpoint/2010/main" val="759992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874C63-CD3F-6AE2-C085-1FD2497E5D2D}"/>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42C3AC8-3EA8-EEAB-0D91-D3785C30C4DE}"/>
              </a:ext>
            </a:extLst>
          </p:cNvPr>
          <p:cNvSpPr>
            <a:spLocks noGrp="1"/>
          </p:cNvSpPr>
          <p:nvPr>
            <p:ph idx="1"/>
          </p:nvPr>
        </p:nvSpPr>
        <p:spPr>
          <a:xfrm>
            <a:off x="612648" y="433384"/>
            <a:ext cx="5862396" cy="5875976"/>
          </a:xfrm>
        </p:spPr>
        <p:txBody>
          <a:bodyPr>
            <a:normAutofit fontScale="92500" lnSpcReduction="10000"/>
          </a:bodyPr>
          <a:lstStyle/>
          <a:p>
            <a:pPr marL="0" indent="0">
              <a:lnSpc>
                <a:spcPct val="110000"/>
              </a:lnSpc>
              <a:buNone/>
            </a:pPr>
            <a:r>
              <a:rPr lang="en-US" sz="1800" dirty="0"/>
              <a:t>3. Once the request (transaction) of sending money is constructed in the wallet software, it is then broadcast to the Ethereum network. The transaction is digitally signed by the sender as proof that he is the owner of the Ether.</a:t>
            </a:r>
          </a:p>
          <a:p>
            <a:pPr marL="0" indent="0">
              <a:lnSpc>
                <a:spcPct val="110000"/>
              </a:lnSpc>
              <a:buNone/>
            </a:pPr>
            <a:r>
              <a:rPr lang="en-US" sz="1800" dirty="0"/>
              <a:t>4. This transaction is then picked up by nodes called miners on the Ethereum network for verification and inclusion in the block. At this stage, the transaction is still unconfirmed.</a:t>
            </a:r>
          </a:p>
          <a:p>
            <a:pPr marL="0" indent="0">
              <a:lnSpc>
                <a:spcPct val="110000"/>
              </a:lnSpc>
              <a:buNone/>
            </a:pPr>
            <a:r>
              <a:rPr lang="en-US" sz="1800" dirty="0"/>
              <a:t>5. Once it is verified and included in the block, the PoW process starts. </a:t>
            </a:r>
          </a:p>
          <a:p>
            <a:pPr marL="0" indent="0">
              <a:lnSpc>
                <a:spcPct val="110000"/>
              </a:lnSpc>
              <a:buNone/>
            </a:pPr>
            <a:r>
              <a:rPr lang="en-US" sz="1800" dirty="0"/>
              <a:t>6. Once a miner finds the answer to the PoW problem, by repeatedly hashing the block with a new nonce, this block is immediately broadcast to the rest of the nodes, which then verify the block and PoW.</a:t>
            </a:r>
          </a:p>
          <a:p>
            <a:pPr marL="0" indent="0">
              <a:lnSpc>
                <a:spcPct val="110000"/>
              </a:lnSpc>
              <a:buNone/>
            </a:pPr>
            <a:r>
              <a:rPr lang="en-US" sz="1800" dirty="0"/>
              <a:t>7. If all the checks pass then this block is added to the blockchain, and miners are paid rewards accordingly.</a:t>
            </a:r>
          </a:p>
          <a:p>
            <a:pPr marL="0" indent="0">
              <a:lnSpc>
                <a:spcPct val="110000"/>
              </a:lnSpc>
              <a:buNone/>
            </a:pPr>
            <a:r>
              <a:rPr lang="en-US" sz="1800" dirty="0"/>
              <a:t>8. Finally, Irshad gets the Ether, and it is shown in her wallet software.</a:t>
            </a:r>
          </a:p>
        </p:txBody>
      </p:sp>
      <p:pic>
        <p:nvPicPr>
          <p:cNvPr id="5" name="Picture 4">
            <a:extLst>
              <a:ext uri="{FF2B5EF4-FFF2-40B4-BE49-F238E27FC236}">
                <a16:creationId xmlns:a16="http://schemas.microsoft.com/office/drawing/2014/main" id="{1DCB07C0-EE93-1195-1DBE-F9B92C6FE226}"/>
              </a:ext>
            </a:extLst>
          </p:cNvPr>
          <p:cNvPicPr>
            <a:picLocks noChangeAspect="1"/>
          </p:cNvPicPr>
          <p:nvPr/>
        </p:nvPicPr>
        <p:blipFill>
          <a:blip r:embed="rId2"/>
          <a:stretch>
            <a:fillRect/>
          </a:stretch>
        </p:blipFill>
        <p:spPr>
          <a:xfrm>
            <a:off x="7204892" y="433384"/>
            <a:ext cx="4454511" cy="6019618"/>
          </a:xfrm>
          <a:prstGeom prst="rect">
            <a:avLst/>
          </a:prstGeom>
        </p:spPr>
      </p:pic>
    </p:spTree>
    <p:extLst>
      <p:ext uri="{BB962C8B-B14F-4D97-AF65-F5344CB8AC3E}">
        <p14:creationId xmlns:p14="http://schemas.microsoft.com/office/powerpoint/2010/main" val="3146424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5701C-2258-39C2-DA01-32E53FBD3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2CA54-72D0-104A-EFC2-538DBFF5736D}"/>
              </a:ext>
            </a:extLst>
          </p:cNvPr>
          <p:cNvSpPr>
            <a:spLocks noGrp="1"/>
          </p:cNvSpPr>
          <p:nvPr>
            <p:ph type="title"/>
          </p:nvPr>
        </p:nvSpPr>
        <p:spPr>
          <a:xfrm>
            <a:off x="612648" y="548640"/>
            <a:ext cx="10653578" cy="539931"/>
          </a:xfrm>
        </p:spPr>
        <p:txBody>
          <a:bodyPr>
            <a:normAutofit fontScale="90000"/>
          </a:bodyPr>
          <a:lstStyle/>
          <a:p>
            <a:r>
              <a:rPr lang="en-US" sz="2800" dirty="0"/>
              <a:t>The Ethereum network</a:t>
            </a:r>
            <a:br>
              <a:rPr lang="en-US" dirty="0"/>
            </a:br>
            <a:endParaRPr lang="en-US" dirty="0"/>
          </a:p>
        </p:txBody>
      </p:sp>
      <p:sp>
        <p:nvSpPr>
          <p:cNvPr id="3" name="Content Placeholder 2">
            <a:extLst>
              <a:ext uri="{FF2B5EF4-FFF2-40B4-BE49-F238E27FC236}">
                <a16:creationId xmlns:a16="http://schemas.microsoft.com/office/drawing/2014/main" id="{FF190A27-2116-E2DB-E539-74E4A05D6CD4}"/>
              </a:ext>
            </a:extLst>
          </p:cNvPr>
          <p:cNvSpPr>
            <a:spLocks noGrp="1"/>
          </p:cNvSpPr>
          <p:nvPr>
            <p:ph idx="1"/>
          </p:nvPr>
        </p:nvSpPr>
        <p:spPr>
          <a:xfrm>
            <a:off x="612647" y="1158240"/>
            <a:ext cx="10653579" cy="5151120"/>
          </a:xfrm>
        </p:spPr>
        <p:txBody>
          <a:bodyPr>
            <a:normAutofit fontScale="92500" lnSpcReduction="10000"/>
          </a:bodyPr>
          <a:lstStyle/>
          <a:p>
            <a:r>
              <a:rPr lang="en-US" dirty="0"/>
              <a:t>The Ethereum network is a peer-to-peer network where nodes participate in order to maintain the blockchain and contribute to the consensus mechanism. Networks can be divided into three types, based on requirements and usage. </a:t>
            </a:r>
          </a:p>
          <a:p>
            <a:r>
              <a:rPr lang="en-US" b="1" dirty="0"/>
              <a:t>Mainnet</a:t>
            </a:r>
          </a:p>
          <a:p>
            <a:r>
              <a:rPr lang="en-US" dirty="0"/>
              <a:t>Mainnet is the current live network of Ethereum. The current version of the </a:t>
            </a:r>
            <a:r>
              <a:rPr lang="en-US" dirty="0" err="1"/>
              <a:t>mainnet</a:t>
            </a:r>
            <a:r>
              <a:rPr lang="en-US" dirty="0"/>
              <a:t> is Byzantium (Metropolis), and its chain ID is 1. Chain ID is used to identify the network. A block explorer that shows detailed information about blocks and other relevant metrics is available at https://etherscan.io. This can be used to explore the Ethereum blockchain.</a:t>
            </a:r>
          </a:p>
          <a:p>
            <a:r>
              <a:rPr lang="en-US" b="1" dirty="0"/>
              <a:t>Testnet</a:t>
            </a:r>
          </a:p>
          <a:p>
            <a:r>
              <a:rPr lang="en-US" dirty="0"/>
              <a:t>Testnet is also called Ropsten and is the widely used test network for the Ethereum blockchain. This test blockchain is used to test smart contracts and </a:t>
            </a:r>
            <a:r>
              <a:rPr lang="en-US" dirty="0" err="1"/>
              <a:t>dApps</a:t>
            </a:r>
            <a:r>
              <a:rPr lang="en-US" dirty="0"/>
              <a:t> before deployment to the production blockchain. Moreover, being a test network, it allows experimentation and research. The main Testnet is called </a:t>
            </a:r>
            <a:r>
              <a:rPr lang="en-US" i="1" dirty="0"/>
              <a:t>Ropsten and includes all the features of other smaller, specialized </a:t>
            </a:r>
            <a:r>
              <a:rPr lang="en-US" i="1" dirty="0" err="1"/>
              <a:t>Testnets</a:t>
            </a:r>
            <a:r>
              <a:rPr lang="en-US" i="1" dirty="0"/>
              <a:t> </a:t>
            </a:r>
            <a:r>
              <a:rPr lang="en-US" dirty="0"/>
              <a:t>created for specific releases.</a:t>
            </a:r>
          </a:p>
        </p:txBody>
      </p:sp>
    </p:spTree>
    <p:extLst>
      <p:ext uri="{BB962C8B-B14F-4D97-AF65-F5344CB8AC3E}">
        <p14:creationId xmlns:p14="http://schemas.microsoft.com/office/powerpoint/2010/main" val="885368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1D2B80-CF3E-4F56-5527-76286EC4E73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183CEDB-07E3-3351-F737-051902A3B456}"/>
              </a:ext>
            </a:extLst>
          </p:cNvPr>
          <p:cNvSpPr>
            <a:spLocks noGrp="1"/>
          </p:cNvSpPr>
          <p:nvPr>
            <p:ph idx="1"/>
          </p:nvPr>
        </p:nvSpPr>
        <p:spPr>
          <a:xfrm>
            <a:off x="534854" y="1539030"/>
            <a:ext cx="4621553" cy="3159018"/>
          </a:xfrm>
        </p:spPr>
        <p:txBody>
          <a:bodyPr>
            <a:normAutofit/>
          </a:bodyPr>
          <a:lstStyle/>
          <a:p>
            <a:pPr>
              <a:lnSpc>
                <a:spcPct val="110000"/>
              </a:lnSpc>
            </a:pPr>
            <a:r>
              <a:rPr lang="en-US" sz="1500" b="1" dirty="0"/>
              <a:t>Private net</a:t>
            </a:r>
          </a:p>
          <a:p>
            <a:pPr>
              <a:lnSpc>
                <a:spcPct val="110000"/>
              </a:lnSpc>
            </a:pPr>
            <a:r>
              <a:rPr lang="en-US" sz="1500" dirty="0"/>
              <a:t>As the name suggests, this is the private network that can be created by generating a new genesis block. This is usually, the case in private blockchain distributed ledger networks, where a private group of entities starts their blockchain and uses it as a permissioned blockchain.</a:t>
            </a:r>
          </a:p>
          <a:p>
            <a:pPr>
              <a:lnSpc>
                <a:spcPct val="110000"/>
              </a:lnSpc>
            </a:pPr>
            <a:r>
              <a:rPr lang="en-US" sz="1500" dirty="0"/>
              <a:t>The following table shows the list of Ethereum network with their network IDs.</a:t>
            </a:r>
          </a:p>
        </p:txBody>
      </p:sp>
      <p:pic>
        <p:nvPicPr>
          <p:cNvPr id="5" name="Picture 4">
            <a:extLst>
              <a:ext uri="{FF2B5EF4-FFF2-40B4-BE49-F238E27FC236}">
                <a16:creationId xmlns:a16="http://schemas.microsoft.com/office/drawing/2014/main" id="{B8DFEE8E-D339-9869-14B1-1A7FB962F530}"/>
              </a:ext>
            </a:extLst>
          </p:cNvPr>
          <p:cNvPicPr>
            <a:picLocks noChangeAspect="1"/>
          </p:cNvPicPr>
          <p:nvPr/>
        </p:nvPicPr>
        <p:blipFill>
          <a:blip r:embed="rId2"/>
          <a:stretch>
            <a:fillRect/>
          </a:stretch>
        </p:blipFill>
        <p:spPr>
          <a:xfrm>
            <a:off x="6442348" y="1415142"/>
            <a:ext cx="5043150" cy="3463026"/>
          </a:xfrm>
          <a:prstGeom prst="rect">
            <a:avLst/>
          </a:prstGeom>
        </p:spPr>
      </p:pic>
    </p:spTree>
    <p:extLst>
      <p:ext uri="{BB962C8B-B14F-4D97-AF65-F5344CB8AC3E}">
        <p14:creationId xmlns:p14="http://schemas.microsoft.com/office/powerpoint/2010/main" val="455742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E915FB-A0A2-93AC-B97F-C8540ABE582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67127D-4446-B021-85F5-54436AFC7D10}"/>
              </a:ext>
            </a:extLst>
          </p:cNvPr>
          <p:cNvSpPr>
            <a:spLocks noGrp="1"/>
          </p:cNvSpPr>
          <p:nvPr>
            <p:ph type="title"/>
          </p:nvPr>
        </p:nvSpPr>
        <p:spPr>
          <a:xfrm>
            <a:off x="612648" y="137160"/>
            <a:ext cx="5862396" cy="1527048"/>
          </a:xfrm>
        </p:spPr>
        <p:txBody>
          <a:bodyPr anchor="b">
            <a:normAutofit/>
          </a:bodyPr>
          <a:lstStyle/>
          <a:p>
            <a:r>
              <a:rPr lang="en-US" sz="2800" dirty="0"/>
              <a:t>Components of the Ethereum ecosystem</a:t>
            </a:r>
          </a:p>
        </p:txBody>
      </p:sp>
      <p:sp>
        <p:nvSpPr>
          <p:cNvPr id="3" name="Content Placeholder 2">
            <a:extLst>
              <a:ext uri="{FF2B5EF4-FFF2-40B4-BE49-F238E27FC236}">
                <a16:creationId xmlns:a16="http://schemas.microsoft.com/office/drawing/2014/main" id="{7D0E0FB9-675B-9A8C-768B-D8C98BC1BD77}"/>
              </a:ext>
            </a:extLst>
          </p:cNvPr>
          <p:cNvSpPr>
            <a:spLocks noGrp="1"/>
          </p:cNvSpPr>
          <p:nvPr>
            <p:ph idx="1"/>
          </p:nvPr>
        </p:nvSpPr>
        <p:spPr>
          <a:xfrm>
            <a:off x="612648" y="2212848"/>
            <a:ext cx="5862396" cy="4096512"/>
          </a:xfrm>
        </p:spPr>
        <p:txBody>
          <a:bodyPr>
            <a:normAutofit/>
          </a:bodyPr>
          <a:lstStyle/>
          <a:p>
            <a:pPr algn="just">
              <a:lnSpc>
                <a:spcPct val="110000"/>
              </a:lnSpc>
            </a:pPr>
            <a:r>
              <a:rPr lang="en-US" sz="1500" dirty="0"/>
              <a:t>The Ethereum blockchain stack consists of various components. At the core, there is the Ethereum blockchain running on the peer-to-peer Ethereum network. Secondly, there's an Ethereum client (usually Geth) that runs on the nodes and connects to the peer-to-peer Ethereum network from where the blockchain is downloaded and stored locally. It provides various functions, such as mining and account management. The local copy of the blockchain is synchronized regularly with the network. Another component is the web3.js library that allows interaction with the </a:t>
            </a:r>
            <a:r>
              <a:rPr lang="en-US" sz="1500" dirty="0" err="1"/>
              <a:t>geth</a:t>
            </a:r>
            <a:r>
              <a:rPr lang="en-US" sz="1500" dirty="0"/>
              <a:t> client via the </a:t>
            </a:r>
            <a:r>
              <a:rPr lang="en-US" sz="1500" b="1" dirty="0"/>
              <a:t>Remote Procedure Call </a:t>
            </a:r>
            <a:r>
              <a:rPr lang="en-US" sz="1500" dirty="0"/>
              <a:t>(</a:t>
            </a:r>
            <a:r>
              <a:rPr lang="en-US" sz="1500" b="1" dirty="0"/>
              <a:t>RPC</a:t>
            </a:r>
            <a:r>
              <a:rPr lang="en-US" sz="1500" dirty="0"/>
              <a:t>) interface.</a:t>
            </a:r>
          </a:p>
          <a:p>
            <a:pPr>
              <a:lnSpc>
                <a:spcPct val="110000"/>
              </a:lnSpc>
            </a:pPr>
            <a:r>
              <a:rPr lang="en-US" sz="1500" dirty="0"/>
              <a:t>This architecture can be visualized in the following diagram:</a:t>
            </a:r>
          </a:p>
        </p:txBody>
      </p:sp>
      <p:pic>
        <p:nvPicPr>
          <p:cNvPr id="5" name="Picture 4">
            <a:extLst>
              <a:ext uri="{FF2B5EF4-FFF2-40B4-BE49-F238E27FC236}">
                <a16:creationId xmlns:a16="http://schemas.microsoft.com/office/drawing/2014/main" id="{A03BBBB9-8D08-1B8B-4EFD-1015C4D5D970}"/>
              </a:ext>
            </a:extLst>
          </p:cNvPr>
          <p:cNvPicPr>
            <a:picLocks noChangeAspect="1"/>
          </p:cNvPicPr>
          <p:nvPr/>
        </p:nvPicPr>
        <p:blipFill>
          <a:blip r:embed="rId2"/>
          <a:stretch>
            <a:fillRect/>
          </a:stretch>
        </p:blipFill>
        <p:spPr>
          <a:xfrm>
            <a:off x="7091395" y="2282375"/>
            <a:ext cx="4681506" cy="2321636"/>
          </a:xfrm>
          <a:prstGeom prst="rect">
            <a:avLst/>
          </a:prstGeom>
        </p:spPr>
      </p:pic>
    </p:spTree>
    <p:extLst>
      <p:ext uri="{BB962C8B-B14F-4D97-AF65-F5344CB8AC3E}">
        <p14:creationId xmlns:p14="http://schemas.microsoft.com/office/powerpoint/2010/main" val="2464820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43F01-0B1B-A04A-7A0E-BA97F10C52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FA8A0A-C297-1C68-05BF-609BEBD2A797}"/>
              </a:ext>
            </a:extLst>
          </p:cNvPr>
          <p:cNvSpPr>
            <a:spLocks noGrp="1"/>
          </p:cNvSpPr>
          <p:nvPr>
            <p:ph idx="1"/>
          </p:nvPr>
        </p:nvSpPr>
        <p:spPr/>
        <p:txBody>
          <a:bodyPr/>
          <a:lstStyle/>
          <a:p>
            <a:pPr marL="0" indent="0">
              <a:buNone/>
            </a:pPr>
            <a:r>
              <a:rPr lang="en-US" dirty="0"/>
              <a:t>A formal list of all high-level elements present in the Ethereum blockchain is presented here:</a:t>
            </a:r>
          </a:p>
          <a:p>
            <a:r>
              <a:rPr lang="en-US" b="1" dirty="0"/>
              <a:t>Keys and addresses</a:t>
            </a:r>
          </a:p>
          <a:p>
            <a:r>
              <a:rPr lang="en-US" b="1" dirty="0"/>
              <a:t>Accounts</a:t>
            </a:r>
          </a:p>
          <a:p>
            <a:r>
              <a:rPr lang="en-US" b="1" dirty="0"/>
              <a:t>Transactions and messages</a:t>
            </a:r>
          </a:p>
          <a:p>
            <a:r>
              <a:rPr lang="en-US" b="1" dirty="0"/>
              <a:t>Ether cryptocurrency/tokens</a:t>
            </a:r>
          </a:p>
          <a:p>
            <a:r>
              <a:rPr lang="en-US" b="1" dirty="0"/>
              <a:t>The EVM</a:t>
            </a:r>
          </a:p>
          <a:p>
            <a:r>
              <a:rPr lang="en-US" b="1" dirty="0"/>
              <a:t>Smart contracts</a:t>
            </a:r>
          </a:p>
        </p:txBody>
      </p:sp>
    </p:spTree>
    <p:extLst>
      <p:ext uri="{BB962C8B-B14F-4D97-AF65-F5344CB8AC3E}">
        <p14:creationId xmlns:p14="http://schemas.microsoft.com/office/powerpoint/2010/main" val="2097888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5FFB2-334F-F8C6-22FF-B1AB676282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9F3DDE-AB8D-EC1A-4B41-0098F83563CF}"/>
              </a:ext>
            </a:extLst>
          </p:cNvPr>
          <p:cNvSpPr>
            <a:spLocks noGrp="1"/>
          </p:cNvSpPr>
          <p:nvPr>
            <p:ph idx="1"/>
          </p:nvPr>
        </p:nvSpPr>
        <p:spPr>
          <a:xfrm>
            <a:off x="612647" y="531223"/>
            <a:ext cx="10653579" cy="5778137"/>
          </a:xfrm>
        </p:spPr>
        <p:txBody>
          <a:bodyPr>
            <a:normAutofit/>
          </a:bodyPr>
          <a:lstStyle/>
          <a:p>
            <a:pPr marL="0" indent="0">
              <a:buNone/>
            </a:pPr>
            <a:r>
              <a:rPr lang="en-US" b="1" dirty="0"/>
              <a:t>Keys and addresses: </a:t>
            </a:r>
          </a:p>
          <a:p>
            <a:r>
              <a:rPr lang="en-US" dirty="0"/>
              <a:t>Keys and addresses are used in the Ethereum blockchain mainly to represent ownership and transfer of Ether. Keys are used in pairs of private and public types. The private key is generated randomly and is kept secret, whereas the public key is derived from the private key. Addresses are derived from the public keys, which are a 20-byte code used to identify accounts.</a:t>
            </a:r>
          </a:p>
          <a:p>
            <a:r>
              <a:rPr lang="en-US" dirty="0"/>
              <a:t>The process of key generation and address derivation is described here:</a:t>
            </a:r>
          </a:p>
          <a:p>
            <a:pPr marL="0" indent="0">
              <a:buNone/>
            </a:pPr>
            <a:r>
              <a:rPr lang="en-US" dirty="0"/>
              <a:t>1. </a:t>
            </a:r>
            <a:r>
              <a:rPr lang="en-US" sz="1600" dirty="0"/>
              <a:t>First, a private key is randomly chosen (256-bit positive integer) under the rules defined by the elliptic curve secp256k1 specification (in the range [1, secp256k1n − 1]).</a:t>
            </a:r>
          </a:p>
          <a:p>
            <a:pPr marL="0" indent="0">
              <a:buNone/>
            </a:pPr>
            <a:r>
              <a:rPr lang="en-US" sz="1600" dirty="0"/>
              <a:t>2. The public key is then derived from this private key using the ECDSA recovery function. We will discuss this later in the next section, </a:t>
            </a:r>
            <a:r>
              <a:rPr lang="en-US" sz="1600" i="1" dirty="0"/>
              <a:t>Accounts </a:t>
            </a:r>
            <a:r>
              <a:rPr lang="en-US" sz="1600" dirty="0"/>
              <a:t>in the context of digital signatures.</a:t>
            </a:r>
          </a:p>
          <a:p>
            <a:pPr marL="0" indent="0">
              <a:buNone/>
            </a:pPr>
            <a:r>
              <a:rPr lang="en-US" sz="1600" dirty="0"/>
              <a:t>3. An address is derived from the public key, which is the right-most 160 bits of the Keccak hash of the public key.</a:t>
            </a:r>
          </a:p>
        </p:txBody>
      </p:sp>
    </p:spTree>
    <p:extLst>
      <p:ext uri="{BB962C8B-B14F-4D97-AF65-F5344CB8AC3E}">
        <p14:creationId xmlns:p14="http://schemas.microsoft.com/office/powerpoint/2010/main" val="471592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A2566-5954-9BE1-DA6E-3E799CCD15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4314B3-90A7-C71A-8E5F-0FBBAB0E111C}"/>
              </a:ext>
            </a:extLst>
          </p:cNvPr>
          <p:cNvSpPr>
            <a:spLocks noGrp="1"/>
          </p:cNvSpPr>
          <p:nvPr>
            <p:ph idx="1"/>
          </p:nvPr>
        </p:nvSpPr>
        <p:spPr>
          <a:xfrm>
            <a:off x="612647" y="505097"/>
            <a:ext cx="10653579" cy="5804263"/>
          </a:xfrm>
        </p:spPr>
        <p:txBody>
          <a:bodyPr>
            <a:normAutofit fontScale="85000" lnSpcReduction="20000"/>
          </a:bodyPr>
          <a:lstStyle/>
          <a:p>
            <a:r>
              <a:rPr lang="en-US" sz="2900" b="1" dirty="0"/>
              <a:t>Accounts</a:t>
            </a:r>
          </a:p>
          <a:p>
            <a:r>
              <a:rPr lang="en-US" dirty="0"/>
              <a:t>Accounts are one of the main building blocks of the Ethereum blockchain. Ethereum, as a transaction-driven state machine, updates the state in response to account interactions and transaction execution. Operations performed between and on the accounts represent state transitions. The state transition is achieved using what's called the Ethereum state transition function, which works as follows:</a:t>
            </a:r>
          </a:p>
          <a:p>
            <a:pPr marL="0" indent="0" algn="just">
              <a:buNone/>
            </a:pPr>
            <a:r>
              <a:rPr lang="en-US" sz="1900" dirty="0"/>
              <a:t>1. </a:t>
            </a:r>
            <a:r>
              <a:rPr lang="en-US" sz="1700" dirty="0"/>
              <a:t>Confirm the transaction validity by checking the syntax, signature validity, and nonce.</a:t>
            </a:r>
          </a:p>
          <a:p>
            <a:pPr marL="0" indent="0" algn="just">
              <a:buNone/>
            </a:pPr>
            <a:r>
              <a:rPr lang="en-US" sz="1700" dirty="0"/>
              <a:t>2. The transaction fee is calculated, and the sending address is resolved using the signature. Furthermore, the sender's account balance is checked and subtracted accordingly, and the nonce is incremented. An error is returned if the account balance is not enough.</a:t>
            </a:r>
          </a:p>
          <a:p>
            <a:pPr marL="0" indent="0" algn="just">
              <a:buNone/>
            </a:pPr>
            <a:r>
              <a:rPr lang="en-US" sz="1700" dirty="0"/>
              <a:t>3. Provide enough Ether (gas price) to cover the transaction cost. We will cover gas and the relevant concept shortly in this chapter. This is charged per byte, incrementally proportional to the transaction size. In this step, the actual transfer of value occurs. The flow is from the sender's account to the receiver's account. The account is created automatically if the destination account specified in the transaction does not exist yet. Moreover, if the destination account is a contract, then the contract code is executed. This also depends on the amount of gas available. If enough gas is available, the contract code will be executed fully; otherwise, it will run until it runs out of gas.</a:t>
            </a:r>
          </a:p>
          <a:p>
            <a:pPr marL="0" indent="0" algn="just">
              <a:buNone/>
            </a:pPr>
            <a:r>
              <a:rPr lang="en-US" sz="1700" dirty="0"/>
              <a:t>4. In cases of transaction failure due to insufficient account balance or gas, all state changes are rolled back except for fee payment, which is paid to the miners.</a:t>
            </a:r>
          </a:p>
          <a:p>
            <a:pPr marL="0" indent="0" algn="just">
              <a:buNone/>
            </a:pPr>
            <a:r>
              <a:rPr lang="en-US" sz="1700" dirty="0"/>
              <a:t>5. Finally, the remainder (if any) of the fee is sent back to the sender as change, and the fee is paid to the miners accordingly. At this point, the function returns the resulting state which is also stored on the blockchain.</a:t>
            </a:r>
          </a:p>
        </p:txBody>
      </p:sp>
    </p:spTree>
    <p:extLst>
      <p:ext uri="{BB962C8B-B14F-4D97-AF65-F5344CB8AC3E}">
        <p14:creationId xmlns:p14="http://schemas.microsoft.com/office/powerpoint/2010/main" val="3047825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FB95B-5D42-50F1-11A2-D750703785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0CC441-1B1D-3F3A-2F16-A9C00A2A0506}"/>
              </a:ext>
            </a:extLst>
          </p:cNvPr>
          <p:cNvSpPr>
            <a:spLocks noGrp="1"/>
          </p:cNvSpPr>
          <p:nvPr>
            <p:ph idx="1"/>
          </p:nvPr>
        </p:nvSpPr>
        <p:spPr>
          <a:xfrm>
            <a:off x="612647" y="557349"/>
            <a:ext cx="10653579" cy="5752011"/>
          </a:xfrm>
        </p:spPr>
        <p:txBody>
          <a:bodyPr>
            <a:normAutofit fontScale="85000" lnSpcReduction="10000"/>
          </a:bodyPr>
          <a:lstStyle/>
          <a:p>
            <a:r>
              <a:rPr lang="en-US" b="1" dirty="0"/>
              <a:t>Types of accounts</a:t>
            </a:r>
          </a:p>
          <a:p>
            <a:pPr marL="0" indent="0">
              <a:buNone/>
            </a:pPr>
            <a:r>
              <a:rPr lang="en-US" dirty="0"/>
              <a:t>Two kinds of accounts exist in Ethereum:</a:t>
            </a:r>
          </a:p>
          <a:p>
            <a:r>
              <a:rPr lang="en-US" b="1" dirty="0"/>
              <a:t>Externally Owned Accounts </a:t>
            </a:r>
            <a:r>
              <a:rPr lang="en-US" dirty="0"/>
              <a:t>(</a:t>
            </a:r>
            <a:r>
              <a:rPr lang="en-US" b="1" dirty="0"/>
              <a:t>EOAs</a:t>
            </a:r>
            <a:r>
              <a:rPr lang="en-US" dirty="0"/>
              <a:t>)</a:t>
            </a:r>
          </a:p>
          <a:p>
            <a:r>
              <a:rPr lang="en-US" b="1" dirty="0"/>
              <a:t>Contract Accounts </a:t>
            </a:r>
            <a:r>
              <a:rPr lang="en-US" dirty="0"/>
              <a:t>(</a:t>
            </a:r>
            <a:r>
              <a:rPr lang="en-US" b="1" dirty="0"/>
              <a:t>CAs</a:t>
            </a:r>
            <a:r>
              <a:rPr lang="en-US" dirty="0"/>
              <a:t>)</a:t>
            </a:r>
          </a:p>
          <a:p>
            <a:pPr marL="0" indent="0">
              <a:buNone/>
            </a:pPr>
            <a:endParaRPr lang="en-US" dirty="0"/>
          </a:p>
          <a:p>
            <a:pPr marL="0" indent="0">
              <a:buNone/>
            </a:pPr>
            <a:r>
              <a:rPr lang="en-US" dirty="0"/>
              <a:t>The first type is EOAs, and the other is CAs. EOAs are similar to accounts in Bitcoin controlled by a private key. CAs are the accounts that have code associated with them, along with the private key.</a:t>
            </a:r>
          </a:p>
          <a:p>
            <a:pPr marL="0" indent="0">
              <a:buNone/>
            </a:pPr>
            <a:r>
              <a:rPr lang="en-US" dirty="0"/>
              <a:t>Various properties of each type of account are described here:</a:t>
            </a:r>
          </a:p>
          <a:p>
            <a:r>
              <a:rPr lang="en-US" dirty="0"/>
              <a:t>EOAs has ether balance</a:t>
            </a:r>
          </a:p>
          <a:p>
            <a:r>
              <a:rPr lang="en-US" dirty="0"/>
              <a:t>They are capable of sending transactions</a:t>
            </a:r>
          </a:p>
          <a:p>
            <a:r>
              <a:rPr lang="en-US" dirty="0"/>
              <a:t>They have no associated code</a:t>
            </a:r>
          </a:p>
          <a:p>
            <a:r>
              <a:rPr lang="en-US" dirty="0"/>
              <a:t>They are controlled by private keys</a:t>
            </a:r>
          </a:p>
          <a:p>
            <a:r>
              <a:rPr lang="en-US" dirty="0"/>
              <a:t>Accounts contain a key-value store</a:t>
            </a:r>
          </a:p>
          <a:p>
            <a:r>
              <a:rPr lang="en-US" dirty="0"/>
              <a:t>They are associated with a human user</a:t>
            </a:r>
          </a:p>
        </p:txBody>
      </p:sp>
    </p:spTree>
    <p:extLst>
      <p:ext uri="{BB962C8B-B14F-4D97-AF65-F5344CB8AC3E}">
        <p14:creationId xmlns:p14="http://schemas.microsoft.com/office/powerpoint/2010/main" val="4128929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9FAF3-4645-DDC5-88FB-BDB10BA4E45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3C6FB9-B112-B11E-5155-B696BB93C65C}"/>
              </a:ext>
            </a:extLst>
          </p:cNvPr>
          <p:cNvSpPr>
            <a:spLocks noGrp="1"/>
          </p:cNvSpPr>
          <p:nvPr>
            <p:ph idx="1"/>
          </p:nvPr>
        </p:nvSpPr>
        <p:spPr>
          <a:xfrm>
            <a:off x="612647" y="487680"/>
            <a:ext cx="10653579" cy="5821680"/>
          </a:xfrm>
        </p:spPr>
        <p:txBody>
          <a:bodyPr>
            <a:normAutofit/>
          </a:bodyPr>
          <a:lstStyle/>
          <a:p>
            <a:r>
              <a:rPr lang="en-US" b="1" dirty="0"/>
              <a:t>CAs:</a:t>
            </a:r>
          </a:p>
          <a:p>
            <a:r>
              <a:rPr lang="en-US" dirty="0"/>
              <a:t>CAs have Ether balance.</a:t>
            </a:r>
          </a:p>
          <a:p>
            <a:r>
              <a:rPr lang="en-US" dirty="0"/>
              <a:t>They have associated code that is kept in memory/storage on the blockchain.</a:t>
            </a:r>
          </a:p>
          <a:p>
            <a:r>
              <a:rPr lang="en-US" dirty="0"/>
              <a:t>They can get triggered and execute code in response to a transaction or a message from other contracts. It is worth noting that due to the Turing-completeness property of the Ethereum blockchain, the code within contract accounts can be of any level of complexity. The code is executed by the </a:t>
            </a:r>
            <a:r>
              <a:rPr lang="en-US" b="1" dirty="0"/>
              <a:t>Ethereum Virtual Machine </a:t>
            </a:r>
            <a:r>
              <a:rPr lang="en-US" dirty="0"/>
              <a:t>(</a:t>
            </a:r>
            <a:r>
              <a:rPr lang="en-US" b="1" dirty="0"/>
              <a:t>EVM</a:t>
            </a:r>
            <a:r>
              <a:rPr lang="en-US" dirty="0"/>
              <a:t>) by each mining node on the Ethereum network. </a:t>
            </a:r>
          </a:p>
          <a:p>
            <a:r>
              <a:rPr lang="en-US" dirty="0"/>
              <a:t>Also, CAs can maintain their permanent state and can call other contracts. It is envisaged that in the serenity release, the distinction between externally owned accounts and contract accounts may be eliminated.</a:t>
            </a:r>
          </a:p>
          <a:p>
            <a:r>
              <a:rPr lang="en-US" dirty="0"/>
              <a:t>They are not intrinsically associated with any user or actor on the blockchain.</a:t>
            </a:r>
          </a:p>
          <a:p>
            <a:r>
              <a:rPr lang="en-US" dirty="0"/>
              <a:t>CAs contain a key-value store.</a:t>
            </a:r>
          </a:p>
        </p:txBody>
      </p:sp>
    </p:spTree>
    <p:extLst>
      <p:ext uri="{BB962C8B-B14F-4D97-AF65-F5344CB8AC3E}">
        <p14:creationId xmlns:p14="http://schemas.microsoft.com/office/powerpoint/2010/main" val="3073287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960EBD-9041-5752-768D-063C5A2B5A4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3D9722C-E1F6-9C50-63B2-EDAB7C8F6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8E8A2C-B347-5F88-F523-774843366C07}"/>
              </a:ext>
            </a:extLst>
          </p:cNvPr>
          <p:cNvSpPr>
            <a:spLocks noGrp="1"/>
          </p:cNvSpPr>
          <p:nvPr>
            <p:ph type="title"/>
          </p:nvPr>
        </p:nvSpPr>
        <p:spPr>
          <a:xfrm>
            <a:off x="612647" y="137160"/>
            <a:ext cx="10560449" cy="629194"/>
          </a:xfrm>
        </p:spPr>
        <p:txBody>
          <a:bodyPr anchor="b">
            <a:normAutofit/>
          </a:bodyPr>
          <a:lstStyle/>
          <a:p>
            <a:r>
              <a:rPr lang="en-US" sz="2800" dirty="0"/>
              <a:t>Transactions and messages</a:t>
            </a:r>
            <a:endParaRPr lang="en-US" sz="2000" dirty="0"/>
          </a:p>
        </p:txBody>
      </p:sp>
      <p:sp>
        <p:nvSpPr>
          <p:cNvPr id="3" name="Content Placeholder 2">
            <a:extLst>
              <a:ext uri="{FF2B5EF4-FFF2-40B4-BE49-F238E27FC236}">
                <a16:creationId xmlns:a16="http://schemas.microsoft.com/office/drawing/2014/main" id="{9899D35E-64B9-82B2-90D2-2B8076D73B4E}"/>
              </a:ext>
            </a:extLst>
          </p:cNvPr>
          <p:cNvSpPr>
            <a:spLocks noGrp="1"/>
          </p:cNvSpPr>
          <p:nvPr>
            <p:ph idx="1"/>
          </p:nvPr>
        </p:nvSpPr>
        <p:spPr>
          <a:xfrm>
            <a:off x="612648" y="1062446"/>
            <a:ext cx="10752038" cy="5246914"/>
          </a:xfrm>
        </p:spPr>
        <p:txBody>
          <a:bodyPr>
            <a:normAutofit/>
          </a:bodyPr>
          <a:lstStyle/>
          <a:p>
            <a:r>
              <a:rPr lang="en-US" dirty="0"/>
              <a:t>A transaction in Ethereum is a digitally signed data packet using a private key that contains the instructions that, when completed, either result in a message call or contract creation. </a:t>
            </a:r>
          </a:p>
          <a:p>
            <a:endParaRPr lang="en-US" dirty="0"/>
          </a:p>
          <a:p>
            <a:r>
              <a:rPr lang="en-US" dirty="0"/>
              <a:t>Transactions can be divided into two types based on the output they produce:</a:t>
            </a:r>
          </a:p>
          <a:p>
            <a:pPr marL="457200" indent="-457200">
              <a:buFont typeface="+mj-lt"/>
              <a:buAutoNum type="arabicPeriod"/>
            </a:pPr>
            <a:r>
              <a:rPr lang="en-US" b="1" dirty="0"/>
              <a:t>Message call transactions</a:t>
            </a:r>
            <a:r>
              <a:rPr lang="en-US" dirty="0"/>
              <a:t>: This transaction simply produces a message call that is used to pass messages from one contract account to another.</a:t>
            </a:r>
          </a:p>
          <a:p>
            <a:pPr marL="457200" indent="-457200">
              <a:buFont typeface="+mj-lt"/>
              <a:buAutoNum type="arabicPeriod"/>
            </a:pPr>
            <a:r>
              <a:rPr lang="en-US" b="1" dirty="0"/>
              <a:t>Contract creation transactions</a:t>
            </a:r>
            <a:r>
              <a:rPr lang="en-US" dirty="0"/>
              <a:t>: As the name suggests, these transactions result in the creation of a new contract account. This means that when this transaction is executed successfully, it creates an account with the associated code.</a:t>
            </a:r>
          </a:p>
          <a:p>
            <a:pPr marL="0" indent="0">
              <a:buNone/>
            </a:pPr>
            <a:r>
              <a:rPr lang="en-US" dirty="0"/>
              <a:t>Both of these transactions are composed of some standard fields: </a:t>
            </a:r>
            <a:endParaRPr lang="en-US" sz="1500" dirty="0"/>
          </a:p>
        </p:txBody>
      </p:sp>
    </p:spTree>
    <p:extLst>
      <p:ext uri="{BB962C8B-B14F-4D97-AF65-F5344CB8AC3E}">
        <p14:creationId xmlns:p14="http://schemas.microsoft.com/office/powerpoint/2010/main" val="1645505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632F10-34B3-4046-F838-54BCB5EC1730}"/>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15">
            <a:extLst>
              <a:ext uri="{FF2B5EF4-FFF2-40B4-BE49-F238E27FC236}">
                <a16:creationId xmlns:a16="http://schemas.microsoft.com/office/drawing/2014/main" id="{0CF59DA7-D1AD-7ADE-DFCC-07D18B891737}"/>
              </a:ext>
            </a:extLst>
          </p:cNvPr>
          <p:cNvSpPr>
            <a:spLocks noGrp="1"/>
          </p:cNvSpPr>
          <p:nvPr>
            <p:ph idx="1"/>
          </p:nvPr>
        </p:nvSpPr>
        <p:spPr>
          <a:xfrm>
            <a:off x="612648" y="513806"/>
            <a:ext cx="7843376" cy="5795554"/>
          </a:xfrm>
        </p:spPr>
        <p:txBody>
          <a:bodyPr>
            <a:normAutofit fontScale="70000" lnSpcReduction="20000"/>
          </a:bodyPr>
          <a:lstStyle/>
          <a:p>
            <a:r>
              <a:rPr lang="en-US" b="1" dirty="0"/>
              <a:t>Nonce</a:t>
            </a:r>
            <a:r>
              <a:rPr lang="en-US" dirty="0"/>
              <a:t>: Nonce is a number that is incremented by one every time a transaction is sent by the sender. It must equal the number of transactions sent and serve as a unique identifier for each transaction. A nonce value can only be used once. This is used for network replay protection.</a:t>
            </a:r>
          </a:p>
          <a:p>
            <a:r>
              <a:rPr lang="en-US" b="1" dirty="0"/>
              <a:t>Gas price</a:t>
            </a:r>
            <a:r>
              <a:rPr lang="en-US" dirty="0"/>
              <a:t>: The gas price field represents the amount of Wei required to execute the transaction. In other words, this is the amount of Wei you are willing to pay for this transaction.</a:t>
            </a:r>
          </a:p>
          <a:p>
            <a:r>
              <a:rPr lang="en-US" b="1" dirty="0"/>
              <a:t>Gas limit</a:t>
            </a:r>
            <a:r>
              <a:rPr lang="en-US" dirty="0"/>
              <a:t>: The gas limit field contains the value that represents the maximum amount of gas that can be consumed to execute the transaction.</a:t>
            </a:r>
          </a:p>
          <a:p>
            <a:r>
              <a:rPr lang="en-US" b="1" dirty="0"/>
              <a:t>To</a:t>
            </a:r>
            <a:r>
              <a:rPr lang="en-US" dirty="0"/>
              <a:t>: As the name suggests, the </a:t>
            </a:r>
            <a:r>
              <a:rPr lang="en-US" i="1" dirty="0"/>
              <a:t>to </a:t>
            </a:r>
            <a:r>
              <a:rPr lang="en-US" dirty="0"/>
              <a:t>field is a value that represents the address of the recipient of the transaction. This is a 20-byte value.</a:t>
            </a:r>
          </a:p>
          <a:p>
            <a:r>
              <a:rPr lang="en-US" b="1" dirty="0"/>
              <a:t>Value</a:t>
            </a:r>
            <a:r>
              <a:rPr lang="en-US" dirty="0"/>
              <a:t>: Value represents the total number of Wei to be transferred to the recipient; in the case of a contract account, this represents the balance that the contract will hold.</a:t>
            </a:r>
          </a:p>
          <a:p>
            <a:r>
              <a:rPr lang="en-US" b="1" dirty="0"/>
              <a:t>Signature</a:t>
            </a:r>
            <a:r>
              <a:rPr lang="en-US" dirty="0"/>
              <a:t>: Signature is composed of three fields, namely </a:t>
            </a:r>
            <a:r>
              <a:rPr lang="en-US" i="1" dirty="0"/>
              <a:t>v</a:t>
            </a:r>
            <a:r>
              <a:rPr lang="en-US" dirty="0"/>
              <a:t>, </a:t>
            </a:r>
            <a:r>
              <a:rPr lang="en-US" i="1" dirty="0"/>
              <a:t>r</a:t>
            </a:r>
            <a:r>
              <a:rPr lang="en-US" dirty="0"/>
              <a:t>, and </a:t>
            </a:r>
            <a:r>
              <a:rPr lang="en-US" i="1" dirty="0"/>
              <a:t>s</a:t>
            </a:r>
            <a:r>
              <a:rPr lang="en-US" dirty="0"/>
              <a:t>. These values represent the digital signature (</a:t>
            </a:r>
            <a:r>
              <a:rPr lang="en-US" i="1" dirty="0"/>
              <a:t>R</a:t>
            </a:r>
            <a:r>
              <a:rPr lang="en-US" dirty="0"/>
              <a:t>, </a:t>
            </a:r>
            <a:r>
              <a:rPr lang="en-US" i="1" dirty="0"/>
              <a:t>S</a:t>
            </a:r>
            <a:r>
              <a:rPr lang="en-US" dirty="0"/>
              <a:t>) and some information that can be used to recover the public key (</a:t>
            </a:r>
            <a:r>
              <a:rPr lang="en-US" i="1" dirty="0"/>
              <a:t>V</a:t>
            </a:r>
            <a:r>
              <a:rPr lang="en-US" dirty="0"/>
              <a:t>).</a:t>
            </a:r>
          </a:p>
          <a:p>
            <a:r>
              <a:rPr lang="en-US" b="1" dirty="0"/>
              <a:t>Init</a:t>
            </a:r>
            <a:r>
              <a:rPr lang="en-US" dirty="0"/>
              <a:t>: The Init field is used only in transactions that are intended to create contracts, that is, contract creation transactions. This represents an unlimited-length byte array that specifies the EVM code to be used during account initialization.</a:t>
            </a:r>
          </a:p>
          <a:p>
            <a:r>
              <a:rPr lang="en-US" b="1" dirty="0"/>
              <a:t>Data</a:t>
            </a:r>
            <a:r>
              <a:rPr lang="en-US" dirty="0"/>
              <a:t>: If the transaction is a message call, then the data field is used instead of </a:t>
            </a:r>
            <a:r>
              <a:rPr lang="en-US" dirty="0" err="1"/>
              <a:t>init</a:t>
            </a:r>
            <a:r>
              <a:rPr lang="en-US" dirty="0"/>
              <a:t>, which represents the input data of the message call. It is also unlimited in size and is organized as a byte array.</a:t>
            </a:r>
            <a:endParaRPr lang="en-US" sz="1800" dirty="0"/>
          </a:p>
        </p:txBody>
      </p:sp>
      <p:pic>
        <p:nvPicPr>
          <p:cNvPr id="5" name="Content Placeholder 4">
            <a:extLst>
              <a:ext uri="{FF2B5EF4-FFF2-40B4-BE49-F238E27FC236}">
                <a16:creationId xmlns:a16="http://schemas.microsoft.com/office/drawing/2014/main" id="{6D00C427-964F-8A14-0ABB-9683E811288D}"/>
              </a:ext>
            </a:extLst>
          </p:cNvPr>
          <p:cNvPicPr>
            <a:picLocks noChangeAspect="1"/>
          </p:cNvPicPr>
          <p:nvPr/>
        </p:nvPicPr>
        <p:blipFill>
          <a:blip r:embed="rId2"/>
          <a:stretch>
            <a:fillRect/>
          </a:stretch>
        </p:blipFill>
        <p:spPr>
          <a:xfrm>
            <a:off x="9031087" y="1497874"/>
            <a:ext cx="2477641" cy="4464219"/>
          </a:xfrm>
          <a:prstGeom prst="rect">
            <a:avLst/>
          </a:prstGeom>
        </p:spPr>
      </p:pic>
    </p:spTree>
    <p:extLst>
      <p:ext uri="{BB962C8B-B14F-4D97-AF65-F5344CB8AC3E}">
        <p14:creationId xmlns:p14="http://schemas.microsoft.com/office/powerpoint/2010/main" val="816615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975A32-DCD8-C112-8A59-ECF08E56C14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60B16BA-78E9-5314-5B4A-0A75F35E5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433BF7-9B33-E691-E972-E2B06E6C1B15}"/>
              </a:ext>
            </a:extLst>
          </p:cNvPr>
          <p:cNvSpPr>
            <a:spLocks noGrp="1"/>
          </p:cNvSpPr>
          <p:nvPr>
            <p:ph type="title"/>
          </p:nvPr>
        </p:nvSpPr>
        <p:spPr>
          <a:xfrm>
            <a:off x="612647" y="137160"/>
            <a:ext cx="8592313" cy="698863"/>
          </a:xfrm>
        </p:spPr>
        <p:txBody>
          <a:bodyPr anchor="b">
            <a:normAutofit/>
          </a:bodyPr>
          <a:lstStyle/>
          <a:p>
            <a:r>
              <a:rPr lang="en-US" sz="2800" dirty="0"/>
              <a:t>Contract creation transaction (Parameters)</a:t>
            </a:r>
          </a:p>
        </p:txBody>
      </p:sp>
      <p:sp>
        <p:nvSpPr>
          <p:cNvPr id="3" name="Content Placeholder 2">
            <a:extLst>
              <a:ext uri="{FF2B5EF4-FFF2-40B4-BE49-F238E27FC236}">
                <a16:creationId xmlns:a16="http://schemas.microsoft.com/office/drawing/2014/main" id="{F8E7860E-37CA-0B68-EAF8-81870A48B215}"/>
              </a:ext>
            </a:extLst>
          </p:cNvPr>
          <p:cNvSpPr>
            <a:spLocks noGrp="1"/>
          </p:cNvSpPr>
          <p:nvPr>
            <p:ph idx="1"/>
          </p:nvPr>
        </p:nvSpPr>
        <p:spPr>
          <a:xfrm>
            <a:off x="612647" y="1193074"/>
            <a:ext cx="10229523" cy="5116286"/>
          </a:xfrm>
        </p:spPr>
        <p:txBody>
          <a:bodyPr>
            <a:normAutofit/>
          </a:bodyPr>
          <a:lstStyle/>
          <a:p>
            <a:r>
              <a:rPr lang="en-US" dirty="0"/>
              <a:t>There are a few essential parameters that are required when creating an account. These parameters are listed as follows:</a:t>
            </a:r>
          </a:p>
          <a:p>
            <a:r>
              <a:rPr lang="en-US" dirty="0"/>
              <a:t>Sender</a:t>
            </a:r>
          </a:p>
          <a:p>
            <a:r>
              <a:rPr lang="en-US" dirty="0"/>
              <a:t>Original transactor (transaction originator)</a:t>
            </a:r>
          </a:p>
          <a:p>
            <a:r>
              <a:rPr lang="en-US" dirty="0"/>
              <a:t>Available gas</a:t>
            </a:r>
          </a:p>
          <a:p>
            <a:r>
              <a:rPr lang="en-US" dirty="0"/>
              <a:t>Gas price</a:t>
            </a:r>
          </a:p>
          <a:p>
            <a:r>
              <a:rPr lang="en-US" dirty="0"/>
              <a:t>Endowment, which is the amount of ether allocated</a:t>
            </a:r>
          </a:p>
          <a:p>
            <a:r>
              <a:rPr lang="en-US" dirty="0"/>
              <a:t>A byte array of an arbitrary length</a:t>
            </a:r>
          </a:p>
          <a:p>
            <a:r>
              <a:rPr lang="en-US" dirty="0"/>
              <a:t>Initialization EVM code</a:t>
            </a:r>
          </a:p>
          <a:p>
            <a:r>
              <a:rPr lang="en-US" dirty="0"/>
              <a:t>Current depth of the message call/contract-creation stack (current depth means the number of items that are already there in the stack)</a:t>
            </a:r>
            <a:endParaRPr lang="en-US" sz="1500" dirty="0"/>
          </a:p>
        </p:txBody>
      </p:sp>
    </p:spTree>
    <p:extLst>
      <p:ext uri="{BB962C8B-B14F-4D97-AF65-F5344CB8AC3E}">
        <p14:creationId xmlns:p14="http://schemas.microsoft.com/office/powerpoint/2010/main" val="2961772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935517-D4E9-B89E-F26C-388502C7F9D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8C8AB60-BBD1-7C57-9942-6A9C0B043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0300E2-2163-A5BA-13E4-358B2EA85846}"/>
              </a:ext>
            </a:extLst>
          </p:cNvPr>
          <p:cNvSpPr>
            <a:spLocks noGrp="1"/>
          </p:cNvSpPr>
          <p:nvPr>
            <p:ph type="title"/>
          </p:nvPr>
        </p:nvSpPr>
        <p:spPr>
          <a:xfrm>
            <a:off x="612647" y="137160"/>
            <a:ext cx="9184495" cy="1108166"/>
          </a:xfrm>
        </p:spPr>
        <p:txBody>
          <a:bodyPr anchor="b">
            <a:normAutofit/>
          </a:bodyPr>
          <a:lstStyle/>
          <a:p>
            <a:r>
              <a:rPr lang="en-US" sz="2800" dirty="0"/>
              <a:t>Message call transaction (parameters )</a:t>
            </a:r>
            <a:br>
              <a:rPr lang="en-US" sz="2800" dirty="0"/>
            </a:br>
            <a:endParaRPr lang="en-US" sz="2800" dirty="0"/>
          </a:p>
        </p:txBody>
      </p:sp>
      <p:sp>
        <p:nvSpPr>
          <p:cNvPr id="3" name="Content Placeholder 2">
            <a:extLst>
              <a:ext uri="{FF2B5EF4-FFF2-40B4-BE49-F238E27FC236}">
                <a16:creationId xmlns:a16="http://schemas.microsoft.com/office/drawing/2014/main" id="{EA276A45-35E3-0D1B-735A-C5A575B4DE31}"/>
              </a:ext>
            </a:extLst>
          </p:cNvPr>
          <p:cNvSpPr>
            <a:spLocks noGrp="1"/>
          </p:cNvSpPr>
          <p:nvPr>
            <p:ph idx="1"/>
          </p:nvPr>
        </p:nvSpPr>
        <p:spPr>
          <a:xfrm>
            <a:off x="612648" y="1489166"/>
            <a:ext cx="10516906" cy="4820194"/>
          </a:xfrm>
        </p:spPr>
        <p:txBody>
          <a:bodyPr>
            <a:normAutofit fontScale="92500" lnSpcReduction="20000"/>
          </a:bodyPr>
          <a:lstStyle/>
          <a:p>
            <a:r>
              <a:rPr lang="en-US" dirty="0"/>
              <a:t>A message call requires several parameters for execution, which are listed as follows:</a:t>
            </a:r>
          </a:p>
          <a:p>
            <a:r>
              <a:rPr lang="en-US" dirty="0"/>
              <a:t>The sender</a:t>
            </a:r>
          </a:p>
          <a:p>
            <a:r>
              <a:rPr lang="en-US" dirty="0"/>
              <a:t>The transaction originator</a:t>
            </a:r>
          </a:p>
          <a:p>
            <a:r>
              <a:rPr lang="en-US" dirty="0"/>
              <a:t>Recipient</a:t>
            </a:r>
          </a:p>
          <a:p>
            <a:r>
              <a:rPr lang="en-US" dirty="0"/>
              <a:t>The account whose code is to be executed (usually same as the recipient)</a:t>
            </a:r>
          </a:p>
          <a:p>
            <a:r>
              <a:rPr lang="en-US" dirty="0"/>
              <a:t>Available gas</a:t>
            </a:r>
          </a:p>
          <a:p>
            <a:r>
              <a:rPr lang="en-US" dirty="0"/>
              <a:t>Value</a:t>
            </a:r>
          </a:p>
          <a:p>
            <a:r>
              <a:rPr lang="en-US" dirty="0"/>
              <a:t>Gas price</a:t>
            </a:r>
          </a:p>
          <a:p>
            <a:r>
              <a:rPr lang="en-US" dirty="0"/>
              <a:t> Arbitrary-length byte array</a:t>
            </a:r>
          </a:p>
          <a:p>
            <a:r>
              <a:rPr lang="en-US" dirty="0"/>
              <a:t>Input data of the call</a:t>
            </a:r>
          </a:p>
          <a:p>
            <a:r>
              <a:rPr lang="en-US" dirty="0"/>
              <a:t>Current depth of the message call/contract creation stack</a:t>
            </a:r>
            <a:endParaRPr lang="en-US" sz="1500" dirty="0"/>
          </a:p>
        </p:txBody>
      </p:sp>
    </p:spTree>
    <p:extLst>
      <p:ext uri="{BB962C8B-B14F-4D97-AF65-F5344CB8AC3E}">
        <p14:creationId xmlns:p14="http://schemas.microsoft.com/office/powerpoint/2010/main" val="414385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8159D4-8BF4-B832-1EDC-99831833A0F5}"/>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900D94-B262-8922-CAE8-502AD21D459F}"/>
              </a:ext>
            </a:extLst>
          </p:cNvPr>
          <p:cNvSpPr>
            <a:spLocks noGrp="1"/>
          </p:cNvSpPr>
          <p:nvPr>
            <p:ph type="title"/>
          </p:nvPr>
        </p:nvSpPr>
        <p:spPr>
          <a:xfrm>
            <a:off x="612648" y="-60696"/>
            <a:ext cx="5862396" cy="1527048"/>
          </a:xfrm>
        </p:spPr>
        <p:txBody>
          <a:bodyPr anchor="b">
            <a:normAutofit/>
          </a:bodyPr>
          <a:lstStyle/>
          <a:p>
            <a:r>
              <a:rPr lang="en-US" dirty="0"/>
              <a:t>Messages</a:t>
            </a:r>
          </a:p>
        </p:txBody>
      </p:sp>
      <p:sp>
        <p:nvSpPr>
          <p:cNvPr id="3" name="Content Placeholder 2">
            <a:extLst>
              <a:ext uri="{FF2B5EF4-FFF2-40B4-BE49-F238E27FC236}">
                <a16:creationId xmlns:a16="http://schemas.microsoft.com/office/drawing/2014/main" id="{C60C75FC-4FB9-5FAA-3BF2-6137572DBD17}"/>
              </a:ext>
            </a:extLst>
          </p:cNvPr>
          <p:cNvSpPr>
            <a:spLocks noGrp="1"/>
          </p:cNvSpPr>
          <p:nvPr>
            <p:ph idx="1"/>
          </p:nvPr>
        </p:nvSpPr>
        <p:spPr>
          <a:xfrm>
            <a:off x="612648" y="1527048"/>
            <a:ext cx="5862396" cy="4782312"/>
          </a:xfrm>
        </p:spPr>
        <p:txBody>
          <a:bodyPr>
            <a:normAutofit/>
          </a:bodyPr>
          <a:lstStyle/>
          <a:p>
            <a:pPr>
              <a:lnSpc>
                <a:spcPct val="110000"/>
              </a:lnSpc>
            </a:pPr>
            <a:r>
              <a:rPr lang="en-US" sz="1200" dirty="0"/>
              <a:t>A </a:t>
            </a:r>
            <a:r>
              <a:rPr lang="en-US" sz="1200" b="1" dirty="0"/>
              <a:t>message </a:t>
            </a:r>
            <a:r>
              <a:rPr lang="en-US" sz="1200" dirty="0"/>
              <a:t>is a data packet passed between two accounts. This data packet contains data and value (amount of ether). It can either be sent via a smart contract (autonomous object) or from an external actor (externally owned account) in the form of a transaction that has been digitally signed by the sender.</a:t>
            </a:r>
          </a:p>
          <a:p>
            <a:pPr>
              <a:lnSpc>
                <a:spcPct val="110000"/>
              </a:lnSpc>
            </a:pPr>
            <a:r>
              <a:rPr lang="en-US" sz="1200" dirty="0"/>
              <a:t>Contracts can send messages to other contracts. Messages only exist in the execution environment and are never stored. Messages are similar to transactions; however, the main difference is that they are produced by the contracts, whereas transactions are produced by entities external to the Ethereum environment (externally owned accounts).</a:t>
            </a:r>
          </a:p>
          <a:p>
            <a:pPr marL="0" indent="0">
              <a:lnSpc>
                <a:spcPct val="110000"/>
              </a:lnSpc>
              <a:buNone/>
            </a:pPr>
            <a:r>
              <a:rPr lang="en-US" sz="1200" dirty="0"/>
              <a:t>A message consists of the components mentioned here:</a:t>
            </a:r>
          </a:p>
          <a:p>
            <a:pPr>
              <a:lnSpc>
                <a:spcPct val="110000"/>
              </a:lnSpc>
            </a:pPr>
            <a:r>
              <a:rPr lang="en-US" sz="1200" dirty="0"/>
              <a:t>The sender of the message</a:t>
            </a:r>
          </a:p>
          <a:p>
            <a:pPr>
              <a:lnSpc>
                <a:spcPct val="110000"/>
              </a:lnSpc>
            </a:pPr>
            <a:r>
              <a:rPr lang="en-US" sz="1200" dirty="0"/>
              <a:t>Recipient of the message</a:t>
            </a:r>
          </a:p>
          <a:p>
            <a:pPr>
              <a:lnSpc>
                <a:spcPct val="110000"/>
              </a:lnSpc>
            </a:pPr>
            <a:r>
              <a:rPr lang="en-US" sz="1200" dirty="0"/>
              <a:t>Amount of Wei to transfer and message to the contract address</a:t>
            </a:r>
          </a:p>
          <a:p>
            <a:pPr>
              <a:lnSpc>
                <a:spcPct val="110000"/>
              </a:lnSpc>
            </a:pPr>
            <a:r>
              <a:rPr lang="en-US" sz="1200" dirty="0"/>
              <a:t>Optional data field (Input data for the contract)</a:t>
            </a:r>
          </a:p>
          <a:p>
            <a:pPr>
              <a:lnSpc>
                <a:spcPct val="110000"/>
              </a:lnSpc>
            </a:pPr>
            <a:r>
              <a:rPr lang="en-US" sz="1200" dirty="0"/>
              <a:t>The maximum amount of gas (</a:t>
            </a:r>
            <a:r>
              <a:rPr lang="en-US" sz="1200" dirty="0" err="1"/>
              <a:t>startgas</a:t>
            </a:r>
            <a:r>
              <a:rPr lang="en-US" sz="1200" dirty="0"/>
              <a:t>) that can be consumed</a:t>
            </a:r>
          </a:p>
          <a:p>
            <a:pPr marL="0" indent="0">
              <a:lnSpc>
                <a:spcPct val="110000"/>
              </a:lnSpc>
              <a:buNone/>
            </a:pPr>
            <a:r>
              <a:rPr lang="en-US" sz="1200" dirty="0"/>
              <a:t>The following diagram shows the segregation between two types of transactions (contract creation and Message call) :</a:t>
            </a:r>
          </a:p>
        </p:txBody>
      </p:sp>
      <p:pic>
        <p:nvPicPr>
          <p:cNvPr id="5" name="Picture 4">
            <a:extLst>
              <a:ext uri="{FF2B5EF4-FFF2-40B4-BE49-F238E27FC236}">
                <a16:creationId xmlns:a16="http://schemas.microsoft.com/office/drawing/2014/main" id="{F06B53F1-6F2F-D3D2-2E3B-4656E4A092E8}"/>
              </a:ext>
            </a:extLst>
          </p:cNvPr>
          <p:cNvPicPr>
            <a:picLocks noChangeAspect="1"/>
          </p:cNvPicPr>
          <p:nvPr/>
        </p:nvPicPr>
        <p:blipFill>
          <a:blip r:embed="rId2"/>
          <a:stretch>
            <a:fillRect/>
          </a:stretch>
        </p:blipFill>
        <p:spPr>
          <a:xfrm>
            <a:off x="7087692" y="1466351"/>
            <a:ext cx="4681506" cy="4499019"/>
          </a:xfrm>
          <a:prstGeom prst="rect">
            <a:avLst/>
          </a:prstGeom>
        </p:spPr>
      </p:pic>
    </p:spTree>
    <p:extLst>
      <p:ext uri="{BB962C8B-B14F-4D97-AF65-F5344CB8AC3E}">
        <p14:creationId xmlns:p14="http://schemas.microsoft.com/office/powerpoint/2010/main" val="2791466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F60064-3DF5-BFFD-4EB3-52EB1B4AA2FF}"/>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816C7F4-4186-FD32-A54A-F3310F070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5061B6-C73A-1A22-652C-44F14E17F1F5}"/>
              </a:ext>
            </a:extLst>
          </p:cNvPr>
          <p:cNvSpPr>
            <a:spLocks noGrp="1"/>
          </p:cNvSpPr>
          <p:nvPr>
            <p:ph idx="1"/>
          </p:nvPr>
        </p:nvSpPr>
        <p:spPr>
          <a:xfrm>
            <a:off x="612647" y="330926"/>
            <a:ext cx="11474849" cy="5978434"/>
          </a:xfrm>
        </p:spPr>
        <p:txBody>
          <a:bodyPr>
            <a:normAutofit/>
          </a:bodyPr>
          <a:lstStyle/>
          <a:p>
            <a:r>
              <a:rPr lang="en-US" b="1" dirty="0"/>
              <a:t>Calls</a:t>
            </a:r>
          </a:p>
          <a:p>
            <a:r>
              <a:rPr lang="en-US" dirty="0"/>
              <a:t>A call does not broadcast anything to the blockchain; instead, it is a local call to a contract function and runs locally on the node. It is almost like a local function call. It does not consume any gas as it is a read-only operation.</a:t>
            </a:r>
          </a:p>
          <a:p>
            <a:pPr marL="0" indent="0">
              <a:buNone/>
            </a:pPr>
            <a:endParaRPr lang="en-US" dirty="0"/>
          </a:p>
          <a:p>
            <a:r>
              <a:rPr lang="en-US" b="1" dirty="0"/>
              <a:t>Transaction validation and execution</a:t>
            </a:r>
          </a:p>
          <a:p>
            <a:r>
              <a:rPr lang="en-US" sz="1600" dirty="0"/>
              <a:t>Transactions are executed after verifying the transactions for validity. Initial tests are listed as follows:</a:t>
            </a:r>
          </a:p>
          <a:p>
            <a:r>
              <a:rPr lang="en-US" sz="1600" dirty="0"/>
              <a:t>A transaction must be well-formed and RLP-encoded without any additional trailing bytes</a:t>
            </a:r>
          </a:p>
          <a:p>
            <a:r>
              <a:rPr lang="en-US" sz="1600" dirty="0"/>
              <a:t>The digital signature used to sign the transaction is valid</a:t>
            </a:r>
          </a:p>
          <a:p>
            <a:r>
              <a:rPr lang="en-US" sz="1600" dirty="0"/>
              <a:t>Transaction nonce must be equal to the sender's account's current nonce. Gas limit must not be less than the gas used by the transaction</a:t>
            </a:r>
          </a:p>
          <a:p>
            <a:r>
              <a:rPr lang="en-US" sz="1600" dirty="0"/>
              <a:t>The sender's account contains enough balance to cover the execution cost.</a:t>
            </a:r>
            <a:endParaRPr lang="en-US" sz="1200" dirty="0"/>
          </a:p>
        </p:txBody>
      </p:sp>
    </p:spTree>
    <p:extLst>
      <p:ext uri="{BB962C8B-B14F-4D97-AF65-F5344CB8AC3E}">
        <p14:creationId xmlns:p14="http://schemas.microsoft.com/office/powerpoint/2010/main" val="1035288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688184-2C0F-AE5B-150E-AE4C4C05FECC}"/>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22C7CB-9985-80DE-AD45-772412B42DDF}"/>
              </a:ext>
            </a:extLst>
          </p:cNvPr>
          <p:cNvSpPr>
            <a:spLocks noGrp="1"/>
          </p:cNvSpPr>
          <p:nvPr>
            <p:ph type="title"/>
          </p:nvPr>
        </p:nvSpPr>
        <p:spPr>
          <a:xfrm>
            <a:off x="612648" y="603504"/>
            <a:ext cx="5862396" cy="1527048"/>
          </a:xfrm>
        </p:spPr>
        <p:txBody>
          <a:bodyPr anchor="b">
            <a:normAutofit/>
          </a:bodyPr>
          <a:lstStyle/>
          <a:p>
            <a:r>
              <a:rPr lang="en-US"/>
              <a:t>The Ethereum Virtual Machine (EVM)</a:t>
            </a:r>
          </a:p>
        </p:txBody>
      </p:sp>
      <p:sp>
        <p:nvSpPr>
          <p:cNvPr id="3" name="Content Placeholder 2">
            <a:extLst>
              <a:ext uri="{FF2B5EF4-FFF2-40B4-BE49-F238E27FC236}">
                <a16:creationId xmlns:a16="http://schemas.microsoft.com/office/drawing/2014/main" id="{B90E2A8B-18B5-4BAE-26AF-7260030B2B63}"/>
              </a:ext>
            </a:extLst>
          </p:cNvPr>
          <p:cNvSpPr>
            <a:spLocks noGrp="1"/>
          </p:cNvSpPr>
          <p:nvPr>
            <p:ph idx="1"/>
          </p:nvPr>
        </p:nvSpPr>
        <p:spPr>
          <a:xfrm>
            <a:off x="612647" y="2212848"/>
            <a:ext cx="6380335" cy="4096512"/>
          </a:xfrm>
        </p:spPr>
        <p:txBody>
          <a:bodyPr>
            <a:normAutofit lnSpcReduction="10000"/>
          </a:bodyPr>
          <a:lstStyle/>
          <a:p>
            <a:pPr>
              <a:lnSpc>
                <a:spcPct val="110000"/>
              </a:lnSpc>
            </a:pPr>
            <a:r>
              <a:rPr lang="en-US" sz="1200" b="1" dirty="0"/>
              <a:t>Ethereum Virtual Machine (EVM) – Summary</a:t>
            </a:r>
          </a:p>
          <a:p>
            <a:pPr>
              <a:lnSpc>
                <a:spcPct val="110000"/>
              </a:lnSpc>
            </a:pPr>
            <a:r>
              <a:rPr lang="en-US" sz="1200" dirty="0"/>
              <a:t>The </a:t>
            </a:r>
            <a:r>
              <a:rPr lang="en-US" sz="1200" b="1" dirty="0"/>
              <a:t>Ethereum Virtual Machine (EVM)</a:t>
            </a:r>
            <a:r>
              <a:rPr lang="en-US" sz="1200" dirty="0"/>
              <a:t> is a stack-based execution environment that runs smart contract bytecode to change the blockchain state. It uses a </a:t>
            </a:r>
            <a:r>
              <a:rPr lang="en-US" sz="1200" b="1" dirty="0"/>
              <a:t>256-bit word size</a:t>
            </a:r>
            <a:r>
              <a:rPr lang="en-US" sz="1200" dirty="0"/>
              <a:t> and a </a:t>
            </a:r>
            <a:r>
              <a:rPr lang="en-US" sz="1200" b="1" dirty="0"/>
              <a:t>LIFO stack</a:t>
            </a:r>
            <a:r>
              <a:rPr lang="en-US" sz="1200" dirty="0"/>
              <a:t> with a maximum of </a:t>
            </a:r>
            <a:r>
              <a:rPr lang="en-US" sz="1200" b="1" dirty="0"/>
              <a:t>1024 elements</a:t>
            </a:r>
            <a:r>
              <a:rPr lang="en-US" sz="1200" dirty="0"/>
              <a:t>.</a:t>
            </a:r>
          </a:p>
          <a:p>
            <a:pPr>
              <a:lnSpc>
                <a:spcPct val="110000"/>
              </a:lnSpc>
            </a:pPr>
            <a:r>
              <a:rPr lang="en-US" sz="1200" dirty="0"/>
              <a:t>EVM is </a:t>
            </a:r>
            <a:r>
              <a:rPr lang="en-US" sz="1200" b="1" dirty="0"/>
              <a:t>Turing-complete</a:t>
            </a:r>
            <a:r>
              <a:rPr lang="en-US" sz="1200" dirty="0"/>
              <a:t>, meaning it can execute any computation, but execution is limited by </a:t>
            </a:r>
            <a:r>
              <a:rPr lang="en-US" sz="1200" b="1" dirty="0"/>
              <a:t>gas</a:t>
            </a:r>
            <a:r>
              <a:rPr lang="en-US" sz="1200" dirty="0"/>
              <a:t>, preventing infinite loops and denial-of-service attacks. It also supports </a:t>
            </a:r>
            <a:r>
              <a:rPr lang="en-US" sz="1200" b="1" dirty="0"/>
              <a:t>exception handling</a:t>
            </a:r>
            <a:r>
              <a:rPr lang="en-US" sz="1200" dirty="0"/>
              <a:t>, halting execution on errors like insufficient gas or invalid instructions.</a:t>
            </a:r>
          </a:p>
          <a:p>
            <a:pPr>
              <a:lnSpc>
                <a:spcPct val="110000"/>
              </a:lnSpc>
            </a:pPr>
            <a:r>
              <a:rPr lang="en-US" sz="1200" dirty="0"/>
              <a:t>EVM operates in a </a:t>
            </a:r>
            <a:r>
              <a:rPr lang="en-US" sz="1200" b="1" dirty="0"/>
              <a:t>secure, sandboxed environment</a:t>
            </a:r>
            <a:r>
              <a:rPr lang="en-US" sz="1200" dirty="0"/>
              <a:t>, with no access to external systems like networks or file systems. This ensures </a:t>
            </a:r>
            <a:r>
              <a:rPr lang="en-US" sz="1200" b="1" dirty="0"/>
              <a:t>deterministic and secure execution</a:t>
            </a:r>
            <a:r>
              <a:rPr lang="en-US" sz="1200" dirty="0"/>
              <a:t> of untrusted code.</a:t>
            </a:r>
          </a:p>
          <a:p>
            <a:pPr>
              <a:lnSpc>
                <a:spcPct val="110000"/>
              </a:lnSpc>
            </a:pPr>
            <a:r>
              <a:rPr lang="en-US" sz="1200" dirty="0"/>
              <a:t>There are two types of storage:</a:t>
            </a:r>
          </a:p>
          <a:p>
            <a:pPr marL="0" indent="0">
              <a:lnSpc>
                <a:spcPct val="100000"/>
              </a:lnSpc>
              <a:spcBef>
                <a:spcPts val="0"/>
              </a:spcBef>
              <a:buNone/>
            </a:pPr>
            <a:r>
              <a:rPr lang="en-US" sz="1200" b="1" dirty="0"/>
              <a:t>                    Memory</a:t>
            </a:r>
            <a:r>
              <a:rPr lang="en-US" sz="1200" dirty="0"/>
              <a:t>: Temporary, cleared after execution (like RAM) </a:t>
            </a:r>
          </a:p>
          <a:p>
            <a:pPr marL="0" indent="0">
              <a:lnSpc>
                <a:spcPct val="100000"/>
              </a:lnSpc>
              <a:spcBef>
                <a:spcPts val="0"/>
              </a:spcBef>
              <a:buNone/>
            </a:pPr>
            <a:r>
              <a:rPr lang="en-US" sz="1200" b="1" dirty="0"/>
              <a:t>                    Storage</a:t>
            </a:r>
            <a:r>
              <a:rPr lang="en-US" sz="1200" dirty="0"/>
              <a:t>: Permanent, stored on blockchain as a key-value store </a:t>
            </a:r>
          </a:p>
          <a:p>
            <a:pPr>
              <a:lnSpc>
                <a:spcPct val="110000"/>
              </a:lnSpc>
            </a:pPr>
            <a:r>
              <a:rPr lang="en-US" sz="1200" dirty="0"/>
              <a:t>Program code is stored in </a:t>
            </a:r>
            <a:r>
              <a:rPr lang="en-US" sz="1200" b="1" dirty="0"/>
              <a:t>virtual ROM</a:t>
            </a:r>
            <a:r>
              <a:rPr lang="en-US" sz="1200" dirty="0"/>
              <a:t> and copied to memory using the </a:t>
            </a:r>
            <a:r>
              <a:rPr lang="en-US" sz="1200" b="1" dirty="0"/>
              <a:t>CODECOPY instruction</a:t>
            </a:r>
            <a:r>
              <a:rPr lang="en-US" sz="1200" dirty="0"/>
              <a:t>. Execution is controlled by a </a:t>
            </a:r>
            <a:r>
              <a:rPr lang="en-US" sz="1200" b="1" dirty="0"/>
              <a:t>program counter</a:t>
            </a:r>
            <a:r>
              <a:rPr lang="en-US" sz="1200" dirty="0"/>
              <a:t>, and instructions are processed step by step using the stack.</a:t>
            </a:r>
          </a:p>
          <a:p>
            <a:pPr>
              <a:lnSpc>
                <a:spcPct val="110000"/>
              </a:lnSpc>
            </a:pPr>
            <a:endParaRPr lang="en-US" sz="1000" dirty="0"/>
          </a:p>
        </p:txBody>
      </p:sp>
      <p:pic>
        <p:nvPicPr>
          <p:cNvPr id="5" name="Picture 4">
            <a:extLst>
              <a:ext uri="{FF2B5EF4-FFF2-40B4-BE49-F238E27FC236}">
                <a16:creationId xmlns:a16="http://schemas.microsoft.com/office/drawing/2014/main" id="{CED4D246-5DEC-1475-AFEE-20C3A0F3AE5B}"/>
              </a:ext>
            </a:extLst>
          </p:cNvPr>
          <p:cNvPicPr>
            <a:picLocks noChangeAspect="1"/>
          </p:cNvPicPr>
          <p:nvPr/>
        </p:nvPicPr>
        <p:blipFill>
          <a:blip r:embed="rId2"/>
          <a:stretch>
            <a:fillRect/>
          </a:stretch>
        </p:blipFill>
        <p:spPr>
          <a:xfrm>
            <a:off x="7091395" y="1779903"/>
            <a:ext cx="4681506" cy="3935097"/>
          </a:xfrm>
          <a:prstGeom prst="rect">
            <a:avLst/>
          </a:prstGeom>
        </p:spPr>
      </p:pic>
      <p:sp>
        <p:nvSpPr>
          <p:cNvPr id="6" name="TextBox 5">
            <a:extLst>
              <a:ext uri="{FF2B5EF4-FFF2-40B4-BE49-F238E27FC236}">
                <a16:creationId xmlns:a16="http://schemas.microsoft.com/office/drawing/2014/main" id="{093DE2BE-3FEA-C2DF-8D34-E02E7783FBA1}"/>
              </a:ext>
            </a:extLst>
          </p:cNvPr>
          <p:cNvSpPr txBox="1"/>
          <p:nvPr/>
        </p:nvSpPr>
        <p:spPr>
          <a:xfrm>
            <a:off x="8218714" y="958334"/>
            <a:ext cx="2656115" cy="369332"/>
          </a:xfrm>
          <a:prstGeom prst="rect">
            <a:avLst/>
          </a:prstGeom>
          <a:noFill/>
        </p:spPr>
        <p:txBody>
          <a:bodyPr wrap="square" rtlCol="0">
            <a:spAutoFit/>
          </a:bodyPr>
          <a:lstStyle/>
          <a:p>
            <a:r>
              <a:rPr lang="en-US" dirty="0"/>
              <a:t>EVM operation</a:t>
            </a:r>
          </a:p>
        </p:txBody>
      </p:sp>
    </p:spTree>
    <p:extLst>
      <p:ext uri="{BB962C8B-B14F-4D97-AF65-F5344CB8AC3E}">
        <p14:creationId xmlns:p14="http://schemas.microsoft.com/office/powerpoint/2010/main" val="1298664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64FFAB-54CD-962D-B31C-081215CB4429}"/>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27B1145-B940-5AA4-23C6-8591E284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06E49A-DF44-B9EE-09DB-BF53C40AE608}"/>
              </a:ext>
            </a:extLst>
          </p:cNvPr>
          <p:cNvSpPr>
            <a:spLocks noGrp="1"/>
          </p:cNvSpPr>
          <p:nvPr>
            <p:ph type="title"/>
          </p:nvPr>
        </p:nvSpPr>
        <p:spPr>
          <a:xfrm>
            <a:off x="612648" y="603504"/>
            <a:ext cx="5862396" cy="728907"/>
          </a:xfrm>
        </p:spPr>
        <p:txBody>
          <a:bodyPr anchor="b">
            <a:normAutofit/>
          </a:bodyPr>
          <a:lstStyle/>
          <a:p>
            <a:r>
              <a:rPr lang="en-US" dirty="0"/>
              <a:t>Smart Contracts</a:t>
            </a:r>
          </a:p>
        </p:txBody>
      </p:sp>
      <p:sp>
        <p:nvSpPr>
          <p:cNvPr id="3" name="Content Placeholder 2">
            <a:extLst>
              <a:ext uri="{FF2B5EF4-FFF2-40B4-BE49-F238E27FC236}">
                <a16:creationId xmlns:a16="http://schemas.microsoft.com/office/drawing/2014/main" id="{06E73C61-6C0F-3674-CFA3-950A738639ED}"/>
              </a:ext>
            </a:extLst>
          </p:cNvPr>
          <p:cNvSpPr>
            <a:spLocks noGrp="1"/>
          </p:cNvSpPr>
          <p:nvPr>
            <p:ph idx="1"/>
          </p:nvPr>
        </p:nvSpPr>
        <p:spPr>
          <a:xfrm>
            <a:off x="612647" y="1497874"/>
            <a:ext cx="11091673" cy="4811486"/>
          </a:xfrm>
        </p:spPr>
        <p:txBody>
          <a:bodyPr>
            <a:normAutofit lnSpcReduction="10000"/>
          </a:bodyPr>
          <a:lstStyle/>
          <a:p>
            <a:r>
              <a:rPr lang="en-US" i="1" dirty="0"/>
              <a:t>A smart contract is a secure and unstoppable computer program representing an agreement that is automatically executable and enforceable.</a:t>
            </a:r>
          </a:p>
          <a:p>
            <a:pPr marL="0" indent="0">
              <a:buNone/>
            </a:pPr>
            <a:r>
              <a:rPr lang="en-US" dirty="0"/>
              <a:t>Dissecting this definition further reveals that a smart contract is, in fact, a computer program that is written in a language that a computer or target machine can understand. Also, it encompasses agreements between parties in the form of business logic. Another fundamental idea is that smart contracts are automatically executed when certain conditions are met.</a:t>
            </a:r>
          </a:p>
          <a:p>
            <a:r>
              <a:rPr lang="en-US" dirty="0"/>
              <a:t>In summary, a smart contract has the following four properties:</a:t>
            </a:r>
          </a:p>
          <a:p>
            <a:pPr>
              <a:lnSpc>
                <a:spcPct val="100000"/>
              </a:lnSpc>
            </a:pPr>
            <a:r>
              <a:rPr lang="en-US" b="1" dirty="0"/>
              <a:t>Automatically executable</a:t>
            </a:r>
          </a:p>
          <a:p>
            <a:pPr>
              <a:lnSpc>
                <a:spcPct val="100000"/>
              </a:lnSpc>
            </a:pPr>
            <a:r>
              <a:rPr lang="en-US" b="1" dirty="0"/>
              <a:t>Enforceable</a:t>
            </a:r>
          </a:p>
          <a:p>
            <a:pPr>
              <a:lnSpc>
                <a:spcPct val="100000"/>
              </a:lnSpc>
            </a:pPr>
            <a:r>
              <a:rPr lang="en-US" b="1" dirty="0"/>
              <a:t>Semantically sound</a:t>
            </a:r>
          </a:p>
          <a:p>
            <a:pPr>
              <a:lnSpc>
                <a:spcPct val="100000"/>
              </a:lnSpc>
            </a:pPr>
            <a:r>
              <a:rPr lang="en-US" b="1" dirty="0"/>
              <a:t>Secure and unstoppable</a:t>
            </a:r>
            <a:endParaRPr lang="en-US" sz="1000" b="1" dirty="0"/>
          </a:p>
        </p:txBody>
      </p:sp>
    </p:spTree>
    <p:extLst>
      <p:ext uri="{BB962C8B-B14F-4D97-AF65-F5344CB8AC3E}">
        <p14:creationId xmlns:p14="http://schemas.microsoft.com/office/powerpoint/2010/main" val="4499730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F7DBA3-5925-48B5-2EA8-6F2320BFF54C}"/>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949D6B9-2728-A5FD-7320-CAFF785A44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53AC8F-5C6A-ACE6-3F96-D0DE8F43E3F5}"/>
              </a:ext>
            </a:extLst>
          </p:cNvPr>
          <p:cNvSpPr>
            <a:spLocks noGrp="1"/>
          </p:cNvSpPr>
          <p:nvPr>
            <p:ph type="title"/>
          </p:nvPr>
        </p:nvSpPr>
        <p:spPr>
          <a:xfrm>
            <a:off x="3904488" y="2700093"/>
            <a:ext cx="5862396" cy="728907"/>
          </a:xfrm>
        </p:spPr>
        <p:txBody>
          <a:bodyPr anchor="b">
            <a:normAutofit/>
          </a:bodyPr>
          <a:lstStyle/>
          <a:p>
            <a:r>
              <a:rPr lang="en-US" dirty="0"/>
              <a:t>Thank you</a:t>
            </a:r>
          </a:p>
        </p:txBody>
      </p:sp>
    </p:spTree>
    <p:extLst>
      <p:ext uri="{BB962C8B-B14F-4D97-AF65-F5344CB8AC3E}">
        <p14:creationId xmlns:p14="http://schemas.microsoft.com/office/powerpoint/2010/main" val="2370632075"/>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273</TotalTime>
  <Words>2810</Words>
  <Application>Microsoft Office PowerPoint</Application>
  <PresentationFormat>Widescreen</PresentationFormat>
  <Paragraphs>142</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Neue Haas Grotesk Text Pro</vt:lpstr>
      <vt:lpstr>VanillaVTI</vt:lpstr>
      <vt:lpstr>Ethereum</vt:lpstr>
      <vt:lpstr>Introduction</vt:lpstr>
      <vt:lpstr>Ethereum – bird's eye view</vt:lpstr>
      <vt:lpstr>PowerPoint Presentation</vt:lpstr>
      <vt:lpstr>PowerPoint Presentation</vt:lpstr>
      <vt:lpstr>The Ethereum network </vt:lpstr>
      <vt:lpstr>PowerPoint Presentation</vt:lpstr>
      <vt:lpstr>Components of the Ethereum ecosystem</vt:lpstr>
      <vt:lpstr>PowerPoint Presentation</vt:lpstr>
      <vt:lpstr>PowerPoint Presentation</vt:lpstr>
      <vt:lpstr>PowerPoint Presentation</vt:lpstr>
      <vt:lpstr>PowerPoint Presentation</vt:lpstr>
      <vt:lpstr>PowerPoint Presentation</vt:lpstr>
      <vt:lpstr>Transactions and messages</vt:lpstr>
      <vt:lpstr>PowerPoint Presentation</vt:lpstr>
      <vt:lpstr>Contract creation transaction (Parameters)</vt:lpstr>
      <vt:lpstr>Message call transaction (parameters ) </vt:lpstr>
      <vt:lpstr>Messages</vt:lpstr>
      <vt:lpstr>PowerPoint Presentation</vt:lpstr>
      <vt:lpstr>The Ethereum Virtual Machine (EVM)</vt:lpstr>
      <vt:lpstr>Smart Contracts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Nirmala S</dc:creator>
  <cp:lastModifiedBy>Nirmala S</cp:lastModifiedBy>
  <cp:revision>2</cp:revision>
  <dcterms:created xsi:type="dcterms:W3CDTF">2026-04-16T03:08:37Z</dcterms:created>
  <dcterms:modified xsi:type="dcterms:W3CDTF">2026-04-16T07:43:03Z</dcterms:modified>
</cp:coreProperties>
</file>