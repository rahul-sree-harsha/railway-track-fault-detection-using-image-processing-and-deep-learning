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30"/>
  </p:notesMasterIdLst>
  <p:sldIdLst>
    <p:sldId id="256" r:id="rId2"/>
    <p:sldId id="257" r:id="rId3"/>
    <p:sldId id="258" r:id="rId4"/>
    <p:sldId id="259" r:id="rId5"/>
    <p:sldId id="260" r:id="rId6"/>
    <p:sldId id="265" r:id="rId7"/>
    <p:sldId id="264" r:id="rId8"/>
    <p:sldId id="263" r:id="rId9"/>
    <p:sldId id="262" r:id="rId10"/>
    <p:sldId id="261" r:id="rId11"/>
    <p:sldId id="269" r:id="rId12"/>
    <p:sldId id="268" r:id="rId13"/>
    <p:sldId id="274" r:id="rId14"/>
    <p:sldId id="267" r:id="rId15"/>
    <p:sldId id="273" r:id="rId16"/>
    <p:sldId id="272" r:id="rId17"/>
    <p:sldId id="271" r:id="rId18"/>
    <p:sldId id="270" r:id="rId19"/>
    <p:sldId id="266" r:id="rId20"/>
    <p:sldId id="278" r:id="rId21"/>
    <p:sldId id="277" r:id="rId22"/>
    <p:sldId id="276" r:id="rId23"/>
    <p:sldId id="275" r:id="rId24"/>
    <p:sldId id="279" r:id="rId25"/>
    <p:sldId id="286" r:id="rId26"/>
    <p:sldId id="285" r:id="rId27"/>
    <p:sldId id="284"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86385" autoAdjust="0"/>
  </p:normalViewPr>
  <p:slideViewPr>
    <p:cSldViewPr snapToGrid="0">
      <p:cViewPr varScale="1">
        <p:scale>
          <a:sx n="66" d="100"/>
          <a:sy n="66" d="100"/>
        </p:scale>
        <p:origin x="652" y="48"/>
      </p:cViewPr>
      <p:guideLst/>
    </p:cSldViewPr>
  </p:slideViewPr>
  <p:outlineViewPr>
    <p:cViewPr>
      <p:scale>
        <a:sx n="33" d="100"/>
        <a:sy n="33" d="100"/>
      </p:scale>
      <p:origin x="0" y="-5232"/>
    </p:cViewPr>
  </p:outlin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A16CE4-EEBC-47FF-8BB7-7B99A1992D44}"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BB5ACF-6A6C-4495-AA0A-8430934A5D78}" type="slidenum">
              <a:rPr lang="en-US" smtClean="0"/>
              <a:t>‹#›</a:t>
            </a:fld>
            <a:endParaRPr lang="en-US"/>
          </a:p>
        </p:txBody>
      </p:sp>
    </p:spTree>
    <p:extLst>
      <p:ext uri="{BB962C8B-B14F-4D97-AF65-F5344CB8AC3E}">
        <p14:creationId xmlns:p14="http://schemas.microsoft.com/office/powerpoint/2010/main" val="2338835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BB5ACF-6A6C-4495-AA0A-8430934A5D78}" type="slidenum">
              <a:rPr lang="en-US" smtClean="0"/>
              <a:t>11</a:t>
            </a:fld>
            <a:endParaRPr lang="en-US"/>
          </a:p>
        </p:txBody>
      </p:sp>
    </p:spTree>
    <p:extLst>
      <p:ext uri="{BB962C8B-B14F-4D97-AF65-F5344CB8AC3E}">
        <p14:creationId xmlns:p14="http://schemas.microsoft.com/office/powerpoint/2010/main" val="1184336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4/15/2026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1999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4/15/2026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26914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4/15/2026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66038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4/15/2026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0932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4/15/2026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52346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4/15/2026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92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4/15/2026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1296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4/15/2026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2274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4/15/2026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9504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4/15/2026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96328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4/15/2026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29141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4/15/2026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7693854"/>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9136920-AD23-A83E-3503-7B270922FC65}"/>
              </a:ext>
            </a:extLst>
          </p:cNvPr>
          <p:cNvPicPr>
            <a:picLocks noChangeAspect="1"/>
          </p:cNvPicPr>
          <p:nvPr/>
        </p:nvPicPr>
        <p:blipFill>
          <a:blip r:embed="rId2"/>
          <a:srcRect t="8907"/>
          <a:stretch>
            <a:fillRect/>
          </a:stretch>
        </p:blipFill>
        <p:spPr>
          <a:xfrm>
            <a:off x="-4" y="0"/>
            <a:ext cx="12191981" cy="6857990"/>
          </a:xfrm>
          <a:prstGeom prst="rect">
            <a:avLst/>
          </a:prstGeom>
        </p:spPr>
      </p:pic>
      <p:sp>
        <p:nvSpPr>
          <p:cNvPr id="19" name="Rectangle 18">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8" y="-1534136"/>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FBF806-5939-56C7-1062-B2DFD918276C}"/>
              </a:ext>
            </a:extLst>
          </p:cNvPr>
          <p:cNvSpPr>
            <a:spLocks noGrp="1"/>
          </p:cNvSpPr>
          <p:nvPr>
            <p:ph type="ctrTitle"/>
          </p:nvPr>
        </p:nvSpPr>
        <p:spPr>
          <a:xfrm>
            <a:off x="192281" y="2989594"/>
            <a:ext cx="11237718" cy="1625985"/>
          </a:xfrm>
        </p:spPr>
        <p:txBody>
          <a:bodyPr>
            <a:normAutofit/>
          </a:bodyPr>
          <a:lstStyle/>
          <a:p>
            <a:r>
              <a:rPr lang="en-US" b="1" dirty="0">
                <a:solidFill>
                  <a:schemeClr val="accent1">
                    <a:lumMod val="60000"/>
                    <a:lumOff val="40000"/>
                  </a:schemeClr>
                </a:solidFill>
              </a:rPr>
              <a:t>Introducing Bitcoin</a:t>
            </a:r>
            <a:endParaRPr lang="en-US" sz="6600" dirty="0">
              <a:solidFill>
                <a:schemeClr val="accent1">
                  <a:lumMod val="60000"/>
                  <a:lumOff val="40000"/>
                </a:schemeClr>
              </a:solidFill>
            </a:endParaRPr>
          </a:p>
        </p:txBody>
      </p:sp>
      <p:sp>
        <p:nvSpPr>
          <p:cNvPr id="20" name="Rectangle: Rounded Corners 19">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49EAC846-D19D-E6A8-F620-6402D53201E8}"/>
              </a:ext>
            </a:extLst>
          </p:cNvPr>
          <p:cNvSpPr>
            <a:spLocks noGrp="1"/>
          </p:cNvSpPr>
          <p:nvPr>
            <p:ph type="subTitle" idx="1"/>
          </p:nvPr>
        </p:nvSpPr>
        <p:spPr>
          <a:xfrm>
            <a:off x="404553" y="5339443"/>
            <a:ext cx="2001550" cy="1159328"/>
          </a:xfrm>
        </p:spPr>
        <p:txBody>
          <a:bodyPr anchor="ctr">
            <a:normAutofit/>
          </a:bodyPr>
          <a:lstStyle/>
          <a:p>
            <a:r>
              <a:rPr lang="en-US" sz="3600" b="1" dirty="0">
                <a:solidFill>
                  <a:schemeClr val="bg1"/>
                </a:solidFill>
              </a:rPr>
              <a:t>UNIT-4</a:t>
            </a:r>
          </a:p>
        </p:txBody>
      </p:sp>
    </p:spTree>
    <p:extLst>
      <p:ext uri="{BB962C8B-B14F-4D97-AF65-F5344CB8AC3E}">
        <p14:creationId xmlns:p14="http://schemas.microsoft.com/office/powerpoint/2010/main" val="71768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44021-8381-5690-9757-C412DF2CDF35}"/>
              </a:ext>
            </a:extLst>
          </p:cNvPr>
          <p:cNvSpPr>
            <a:spLocks noGrp="1"/>
          </p:cNvSpPr>
          <p:nvPr>
            <p:ph type="title"/>
          </p:nvPr>
        </p:nvSpPr>
        <p:spPr/>
        <p:txBody>
          <a:bodyPr>
            <a:normAutofit fontScale="90000"/>
          </a:bodyPr>
          <a:lstStyle/>
          <a:p>
            <a:r>
              <a:rPr lang="en-US" b="1" dirty="0"/>
              <a:t>Introducing Bitcoin</a:t>
            </a:r>
            <a:br>
              <a:rPr lang="en-US" b="1" dirty="0"/>
            </a:br>
            <a:endParaRPr lang="en-US" dirty="0"/>
          </a:p>
        </p:txBody>
      </p:sp>
      <p:sp>
        <p:nvSpPr>
          <p:cNvPr id="3" name="Content Placeholder 2">
            <a:extLst>
              <a:ext uri="{FF2B5EF4-FFF2-40B4-BE49-F238E27FC236}">
                <a16:creationId xmlns:a16="http://schemas.microsoft.com/office/drawing/2014/main" id="{BBB88CAD-4F0C-2791-EDEB-EDAE21D1B26D}"/>
              </a:ext>
            </a:extLst>
          </p:cNvPr>
          <p:cNvSpPr>
            <a:spLocks noGrp="1"/>
          </p:cNvSpPr>
          <p:nvPr>
            <p:ph idx="1"/>
          </p:nvPr>
        </p:nvSpPr>
        <p:spPr/>
        <p:txBody>
          <a:bodyPr>
            <a:normAutofit fontScale="85000" lnSpcReduction="10000"/>
          </a:bodyPr>
          <a:lstStyle/>
          <a:p>
            <a:r>
              <a:rPr lang="en-US" dirty="0"/>
              <a:t>Bitcoin is the first application of blockchain technology. In this chapter, you will be introduced to Bitcoin</a:t>
            </a:r>
          </a:p>
          <a:p>
            <a:r>
              <a:rPr lang="en-US" dirty="0"/>
              <a:t>technology in detail.</a:t>
            </a:r>
          </a:p>
          <a:p>
            <a:r>
              <a:rPr lang="en-US" dirty="0"/>
              <a:t>Bitcoin has started a revolution with the introduction of the very first fully decentralized digital currency, and</a:t>
            </a:r>
          </a:p>
          <a:p>
            <a:r>
              <a:rPr lang="en-US" dirty="0"/>
              <a:t>the one that has proven to be extremely secure and stable from a network and protocol point of view. As a</a:t>
            </a:r>
          </a:p>
          <a:p>
            <a:r>
              <a:rPr lang="en-US" dirty="0"/>
              <a:t>currency bitcoin is quite unstable and highly volatile, albeit valuable.</a:t>
            </a:r>
          </a:p>
        </p:txBody>
      </p:sp>
    </p:spTree>
    <p:extLst>
      <p:ext uri="{BB962C8B-B14F-4D97-AF65-F5344CB8AC3E}">
        <p14:creationId xmlns:p14="http://schemas.microsoft.com/office/powerpoint/2010/main" val="3545468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5B22-0CA0-58E5-753C-BD808D790CF0}"/>
              </a:ext>
            </a:extLst>
          </p:cNvPr>
          <p:cNvSpPr>
            <a:spLocks noGrp="1"/>
          </p:cNvSpPr>
          <p:nvPr>
            <p:ph type="title"/>
          </p:nvPr>
        </p:nvSpPr>
        <p:spPr/>
        <p:txBody>
          <a:bodyPr>
            <a:normAutofit fontScale="90000"/>
          </a:bodyPr>
          <a:lstStyle/>
          <a:p>
            <a:r>
              <a:rPr lang="en-US" b="1" dirty="0"/>
              <a:t>Bitcoin definition</a:t>
            </a:r>
            <a:br>
              <a:rPr lang="en-US" b="1" dirty="0"/>
            </a:br>
            <a:endParaRPr lang="en-US" dirty="0"/>
          </a:p>
        </p:txBody>
      </p:sp>
      <p:sp>
        <p:nvSpPr>
          <p:cNvPr id="3" name="Content Placeholder 2">
            <a:extLst>
              <a:ext uri="{FF2B5EF4-FFF2-40B4-BE49-F238E27FC236}">
                <a16:creationId xmlns:a16="http://schemas.microsoft.com/office/drawing/2014/main" id="{F825EB58-360A-A875-C60D-67D51E6BA631}"/>
              </a:ext>
            </a:extLst>
          </p:cNvPr>
          <p:cNvSpPr>
            <a:spLocks noGrp="1"/>
          </p:cNvSpPr>
          <p:nvPr>
            <p:ph idx="1"/>
          </p:nvPr>
        </p:nvSpPr>
        <p:spPr/>
        <p:txBody>
          <a:bodyPr>
            <a:normAutofit/>
          </a:bodyPr>
          <a:lstStyle/>
          <a:p>
            <a:r>
              <a:rPr lang="en-US" dirty="0"/>
              <a:t>Bitcoin can be defined in various ways; it's a protocol, a digital currency, and a platform. It is a combination of</a:t>
            </a:r>
          </a:p>
          <a:p>
            <a:r>
              <a:rPr lang="en-US" dirty="0"/>
              <a:t>peer-to-peer network, protocols, software that facilitate the creation and usage of the digital currency named</a:t>
            </a:r>
          </a:p>
          <a:p>
            <a:r>
              <a:rPr lang="en-US" dirty="0"/>
              <a:t>bitcoin. Nodes in this peer-to-peer network talk to each other using the Bitcoin protocol.</a:t>
            </a:r>
          </a:p>
        </p:txBody>
      </p:sp>
    </p:spTree>
    <p:extLst>
      <p:ext uri="{BB962C8B-B14F-4D97-AF65-F5344CB8AC3E}">
        <p14:creationId xmlns:p14="http://schemas.microsoft.com/office/powerpoint/2010/main" val="335642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7A778-4062-507F-4184-F1597F47D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22293-179E-82A1-6B05-C092745E2791}"/>
              </a:ext>
            </a:extLst>
          </p:cNvPr>
          <p:cNvSpPr>
            <a:spLocks noGrp="1"/>
          </p:cNvSpPr>
          <p:nvPr>
            <p:ph type="title"/>
          </p:nvPr>
        </p:nvSpPr>
        <p:spPr/>
        <p:txBody>
          <a:bodyPr/>
          <a:lstStyle/>
          <a:p>
            <a:r>
              <a:rPr lang="en-US" b="1" dirty="0"/>
              <a:t>Bitcoin – a bird's-eye view</a:t>
            </a:r>
            <a:endParaRPr lang="en-US" dirty="0"/>
          </a:p>
        </p:txBody>
      </p:sp>
      <p:sp>
        <p:nvSpPr>
          <p:cNvPr id="3" name="Content Placeholder 2">
            <a:extLst>
              <a:ext uri="{FF2B5EF4-FFF2-40B4-BE49-F238E27FC236}">
                <a16:creationId xmlns:a16="http://schemas.microsoft.com/office/drawing/2014/main" id="{0A573616-2400-B341-551E-AEE36227416D}"/>
              </a:ext>
            </a:extLst>
          </p:cNvPr>
          <p:cNvSpPr>
            <a:spLocks noGrp="1"/>
          </p:cNvSpPr>
          <p:nvPr>
            <p:ph idx="1"/>
          </p:nvPr>
        </p:nvSpPr>
        <p:spPr>
          <a:xfrm>
            <a:off x="734785" y="1728216"/>
            <a:ext cx="11168743" cy="4443984"/>
          </a:xfrm>
        </p:spPr>
        <p:txBody>
          <a:bodyPr>
            <a:normAutofit fontScale="77500" lnSpcReduction="20000"/>
          </a:bodyPr>
          <a:lstStyle/>
          <a:p>
            <a:r>
              <a:rPr lang="en-US" dirty="0"/>
              <a:t>In this section, we will see how the Bitcoin network looks from a user's point of view. How a transaction is made, how it propagates from a user to the network, how transactions are verified, and finally, accumulated in blocks.</a:t>
            </a:r>
          </a:p>
          <a:p>
            <a:pPr marL="0" indent="0">
              <a:buNone/>
            </a:pPr>
            <a:r>
              <a:rPr lang="en-US" dirty="0"/>
              <a:t>The main components of a Bitcoin network are:  </a:t>
            </a:r>
          </a:p>
          <a:p>
            <a:r>
              <a:rPr lang="en-US" dirty="0"/>
              <a:t>Digital keys</a:t>
            </a:r>
          </a:p>
          <a:p>
            <a:r>
              <a:rPr lang="en-US" dirty="0"/>
              <a:t>Addresses</a:t>
            </a:r>
          </a:p>
          <a:p>
            <a:r>
              <a:rPr lang="en-US" dirty="0"/>
              <a:t>Transactions</a:t>
            </a:r>
          </a:p>
          <a:p>
            <a:r>
              <a:rPr lang="en-US" dirty="0"/>
              <a:t>Blockchain</a:t>
            </a:r>
          </a:p>
          <a:p>
            <a:r>
              <a:rPr lang="en-US" dirty="0"/>
              <a:t>Miners</a:t>
            </a:r>
          </a:p>
          <a:p>
            <a:r>
              <a:rPr lang="en-US" dirty="0"/>
              <a:t>The Bitcoin network</a:t>
            </a:r>
          </a:p>
          <a:p>
            <a:r>
              <a:rPr lang="en-US" dirty="0"/>
              <a:t>Wallets (client software)</a:t>
            </a:r>
          </a:p>
        </p:txBody>
      </p:sp>
    </p:spTree>
    <p:extLst>
      <p:ext uri="{BB962C8B-B14F-4D97-AF65-F5344CB8AC3E}">
        <p14:creationId xmlns:p14="http://schemas.microsoft.com/office/powerpoint/2010/main" val="394537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713C55-F911-917E-8F1E-A8B3F9921A4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7228FC-7F50-C911-7BFB-24755C2FCF42}"/>
              </a:ext>
            </a:extLst>
          </p:cNvPr>
          <p:cNvSpPr>
            <a:spLocks noGrp="1"/>
          </p:cNvSpPr>
          <p:nvPr>
            <p:ph type="title"/>
          </p:nvPr>
        </p:nvSpPr>
        <p:spPr>
          <a:xfrm>
            <a:off x="841246" y="978619"/>
            <a:ext cx="5991244" cy="1106424"/>
          </a:xfrm>
        </p:spPr>
        <p:txBody>
          <a:bodyPr>
            <a:normAutofit/>
          </a:bodyPr>
          <a:lstStyle/>
          <a:p>
            <a:r>
              <a:rPr lang="en-US" sz="2700" b="1"/>
              <a:t>Sending a payment to someone</a:t>
            </a:r>
            <a:br>
              <a:rPr lang="en-US" sz="2700" b="1"/>
            </a:br>
            <a:endParaRPr lang="en-US" sz="2700"/>
          </a:p>
        </p:txBody>
      </p:sp>
      <p:sp>
        <p:nvSpPr>
          <p:cNvPr id="14" name="Rectangle 1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A64779C-6B62-259E-B493-2004E8E4D0CE}"/>
              </a:ext>
            </a:extLst>
          </p:cNvPr>
          <p:cNvSpPr>
            <a:spLocks noGrp="1"/>
          </p:cNvSpPr>
          <p:nvPr>
            <p:ph idx="1"/>
          </p:nvPr>
        </p:nvSpPr>
        <p:spPr>
          <a:xfrm>
            <a:off x="841248" y="2252870"/>
            <a:ext cx="5993892" cy="3560251"/>
          </a:xfrm>
        </p:spPr>
        <p:txBody>
          <a:bodyPr>
            <a:normAutofit/>
          </a:bodyPr>
          <a:lstStyle/>
          <a:p>
            <a:pPr marL="0" indent="0">
              <a:lnSpc>
                <a:spcPct val="100000"/>
              </a:lnSpc>
              <a:buNone/>
            </a:pPr>
            <a:r>
              <a:rPr lang="en-US" sz="1500"/>
              <a:t>This example demonstrates how money can be sent over the Bitcoin network from one user to another.</a:t>
            </a:r>
          </a:p>
          <a:p>
            <a:pPr marL="0" indent="0">
              <a:lnSpc>
                <a:spcPct val="100000"/>
              </a:lnSpc>
              <a:buNone/>
            </a:pPr>
            <a:r>
              <a:rPr lang="en-US" sz="1500"/>
              <a:t>There are several steps that are involved in this process. For example, we are using a mobile Blockchain wallet.</a:t>
            </a:r>
          </a:p>
          <a:p>
            <a:pPr marL="0" indent="0">
              <a:lnSpc>
                <a:spcPct val="100000"/>
              </a:lnSpc>
              <a:buNone/>
            </a:pPr>
            <a:r>
              <a:rPr lang="en-US" sz="1500"/>
              <a:t>The steps are described here:</a:t>
            </a:r>
          </a:p>
          <a:p>
            <a:pPr marL="0" indent="0">
              <a:lnSpc>
                <a:spcPct val="100000"/>
              </a:lnSpc>
              <a:buNone/>
            </a:pPr>
            <a:r>
              <a:rPr lang="en-US" sz="1500"/>
              <a:t>1. First, either the payment is requested from a user by sending their Bitcoin address to the sender via email or some other means, such as SMS, chat applications, or, in fact, any appropriate communication mechanism. The sender can also initiate a transfer to send money to another user. In both cases, the address of the beneficiary is required.</a:t>
            </a:r>
          </a:p>
        </p:txBody>
      </p:sp>
      <p:pic>
        <p:nvPicPr>
          <p:cNvPr id="5" name="Picture 4">
            <a:extLst>
              <a:ext uri="{FF2B5EF4-FFF2-40B4-BE49-F238E27FC236}">
                <a16:creationId xmlns:a16="http://schemas.microsoft.com/office/drawing/2014/main" id="{93020179-2895-9D2D-8AA3-6AC39718ECE0}"/>
              </a:ext>
            </a:extLst>
          </p:cNvPr>
          <p:cNvPicPr>
            <a:picLocks noChangeAspect="1"/>
          </p:cNvPicPr>
          <p:nvPr/>
        </p:nvPicPr>
        <p:blipFill>
          <a:blip r:embed="rId2"/>
          <a:stretch>
            <a:fillRect/>
          </a:stretch>
        </p:blipFill>
        <p:spPr>
          <a:xfrm>
            <a:off x="8118079" y="630936"/>
            <a:ext cx="3221126" cy="5495544"/>
          </a:xfrm>
          <a:prstGeom prst="rect">
            <a:avLst/>
          </a:prstGeom>
        </p:spPr>
      </p:pic>
    </p:spTree>
    <p:extLst>
      <p:ext uri="{BB962C8B-B14F-4D97-AF65-F5344CB8AC3E}">
        <p14:creationId xmlns:p14="http://schemas.microsoft.com/office/powerpoint/2010/main" val="3027059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E740A4-4701-C0CE-C58B-FBC50B6588B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FE784EB-6C1B-3ACF-9A74-B77FC2BD1C4D}"/>
              </a:ext>
            </a:extLst>
          </p:cNvPr>
          <p:cNvSpPr>
            <a:spLocks noGrp="1"/>
          </p:cNvSpPr>
          <p:nvPr>
            <p:ph idx="1"/>
          </p:nvPr>
        </p:nvSpPr>
        <p:spPr>
          <a:xfrm>
            <a:off x="345567" y="728456"/>
            <a:ext cx="6919717" cy="5084665"/>
          </a:xfrm>
        </p:spPr>
        <p:txBody>
          <a:bodyPr>
            <a:normAutofit/>
          </a:bodyPr>
          <a:lstStyle/>
          <a:p>
            <a:pPr marL="0" indent="0">
              <a:buNone/>
            </a:pPr>
            <a:r>
              <a:rPr lang="en-US" sz="1800" dirty="0"/>
              <a:t>2. The sender either enters the receiver's address or scans the QR code that has the Bitcoin address, amount and optional description encoded in it. The wallet application recognizes this QR code and decodes it .</a:t>
            </a:r>
          </a:p>
          <a:p>
            <a:pPr marL="0" indent="0">
              <a:buNone/>
            </a:pPr>
            <a:r>
              <a:rPr lang="en-US" sz="1800" dirty="0"/>
              <a:t>3. This will look like as shown here with values: Please send 0.00033324 BTC to the Bitcoin address  1JzouJCVmMQBmTcd8K4Y5BP36gEFNn1ZJ3.</a:t>
            </a:r>
          </a:p>
          <a:p>
            <a:pPr marL="0" indent="0">
              <a:buNone/>
            </a:pPr>
            <a:r>
              <a:rPr lang="en-US" sz="1800" dirty="0"/>
              <a:t>4. This is also shown in the screenshot presented here: </a:t>
            </a:r>
          </a:p>
        </p:txBody>
      </p:sp>
      <p:pic>
        <p:nvPicPr>
          <p:cNvPr id="5" name="Picture 4">
            <a:extLst>
              <a:ext uri="{FF2B5EF4-FFF2-40B4-BE49-F238E27FC236}">
                <a16:creationId xmlns:a16="http://schemas.microsoft.com/office/drawing/2014/main" id="{CFFEE355-7DBC-073A-F40B-BAF391FB847B}"/>
              </a:ext>
            </a:extLst>
          </p:cNvPr>
          <p:cNvPicPr>
            <a:picLocks noChangeAspect="1"/>
          </p:cNvPicPr>
          <p:nvPr/>
        </p:nvPicPr>
        <p:blipFill>
          <a:blip r:embed="rId2"/>
          <a:stretch>
            <a:fillRect/>
          </a:stretch>
        </p:blipFill>
        <p:spPr>
          <a:xfrm>
            <a:off x="7940421" y="630936"/>
            <a:ext cx="3576443" cy="5495544"/>
          </a:xfrm>
          <a:prstGeom prst="rect">
            <a:avLst/>
          </a:prstGeom>
        </p:spPr>
      </p:pic>
    </p:spTree>
    <p:extLst>
      <p:ext uri="{BB962C8B-B14F-4D97-AF65-F5344CB8AC3E}">
        <p14:creationId xmlns:p14="http://schemas.microsoft.com/office/powerpoint/2010/main" val="717238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3E7239-EF08-6049-884B-9DF55715E702}"/>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C8F1D471-DC31-78A5-CF69-7DCDA22E8F83}"/>
              </a:ext>
            </a:extLst>
          </p:cNvPr>
          <p:cNvSpPr>
            <a:spLocks noGrp="1"/>
          </p:cNvSpPr>
          <p:nvPr>
            <p:ph idx="1"/>
          </p:nvPr>
        </p:nvSpPr>
        <p:spPr>
          <a:xfrm>
            <a:off x="841248" y="2252870"/>
            <a:ext cx="5993892" cy="3560251"/>
          </a:xfrm>
        </p:spPr>
        <p:txBody>
          <a:bodyPr>
            <a:normAutofit lnSpcReduction="10000"/>
          </a:bodyPr>
          <a:lstStyle/>
          <a:p>
            <a:pPr marL="0" indent="0">
              <a:buNone/>
            </a:pPr>
            <a:r>
              <a:rPr lang="en-US" sz="1800" dirty="0"/>
              <a:t>5. In the wallet application of the sender, this transaction is constructed by following some rules and broadcast to the Bitcoin network. This transaction is digitally signed with the sender's private key before being broadcast.</a:t>
            </a:r>
          </a:p>
          <a:p>
            <a:pPr marL="0" indent="0">
              <a:buNone/>
            </a:pPr>
            <a:r>
              <a:rPr lang="en-US" sz="1800" dirty="0"/>
              <a:t>Fields such as From, To, BTC, and Fee. While other fields are self-explanatory, it's worth noting that the fee is calculated based on the size of the transaction, and the fee rate is a value that depends on the volume of the transaction in the network. This is represented in </a:t>
            </a:r>
            <a:r>
              <a:rPr lang="en-US" sz="1800" dirty="0" err="1"/>
              <a:t>Satoshis</a:t>
            </a:r>
            <a:r>
              <a:rPr lang="en-US" sz="1800" dirty="0"/>
              <a:t>/byte. Fee in the Bitcoin network ensures that your transaction will be included by miners in the block.</a:t>
            </a:r>
          </a:p>
        </p:txBody>
      </p:sp>
      <p:pic>
        <p:nvPicPr>
          <p:cNvPr id="10" name="Content Placeholder 4">
            <a:extLst>
              <a:ext uri="{FF2B5EF4-FFF2-40B4-BE49-F238E27FC236}">
                <a16:creationId xmlns:a16="http://schemas.microsoft.com/office/drawing/2014/main" id="{2C41EDF1-80A0-C3BD-8DE0-BDC2CBC71B26}"/>
              </a:ext>
            </a:extLst>
          </p:cNvPr>
          <p:cNvPicPr>
            <a:picLocks noChangeAspect="1"/>
          </p:cNvPicPr>
          <p:nvPr/>
        </p:nvPicPr>
        <p:blipFill>
          <a:blip r:embed="rId2"/>
          <a:stretch>
            <a:fillRect/>
          </a:stretch>
        </p:blipFill>
        <p:spPr>
          <a:xfrm>
            <a:off x="7834411" y="630936"/>
            <a:ext cx="3788462" cy="5495544"/>
          </a:xfrm>
          <a:prstGeom prst="rect">
            <a:avLst/>
          </a:prstGeom>
        </p:spPr>
      </p:pic>
    </p:spTree>
    <p:extLst>
      <p:ext uri="{BB962C8B-B14F-4D97-AF65-F5344CB8AC3E}">
        <p14:creationId xmlns:p14="http://schemas.microsoft.com/office/powerpoint/2010/main" val="869861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70DDEC-B7E4-6FCB-1BFB-C07077ACF3C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6AFF4DB-4814-E6E8-D245-ACE6049C9829}"/>
              </a:ext>
            </a:extLst>
          </p:cNvPr>
          <p:cNvSpPr>
            <a:spLocks noGrp="1"/>
          </p:cNvSpPr>
          <p:nvPr>
            <p:ph idx="1"/>
          </p:nvPr>
        </p:nvSpPr>
        <p:spPr>
          <a:xfrm>
            <a:off x="841248" y="2252870"/>
            <a:ext cx="5993892" cy="3560251"/>
          </a:xfrm>
        </p:spPr>
        <p:txBody>
          <a:bodyPr>
            <a:normAutofit/>
          </a:bodyPr>
          <a:lstStyle/>
          <a:p>
            <a:pPr marL="0" indent="0">
              <a:buNone/>
            </a:pPr>
            <a:r>
              <a:rPr lang="en-US" dirty="0"/>
              <a:t>4. At this stage, the transaction has been constructed, signed and sent out to the Bitcoin network. This</a:t>
            </a:r>
          </a:p>
          <a:p>
            <a:pPr marL="0" indent="0">
              <a:buNone/>
            </a:pPr>
            <a:r>
              <a:rPr lang="en-US" dirty="0"/>
              <a:t>transaction will be picked up by miners to be verified and included in the block.</a:t>
            </a:r>
            <a:endParaRPr lang="en-US" sz="1800" dirty="0"/>
          </a:p>
        </p:txBody>
      </p:sp>
      <p:pic>
        <p:nvPicPr>
          <p:cNvPr id="5" name="Picture 4">
            <a:extLst>
              <a:ext uri="{FF2B5EF4-FFF2-40B4-BE49-F238E27FC236}">
                <a16:creationId xmlns:a16="http://schemas.microsoft.com/office/drawing/2014/main" id="{0CA1EAEA-E5C0-80CD-3FFD-99548FBBD6BA}"/>
              </a:ext>
            </a:extLst>
          </p:cNvPr>
          <p:cNvPicPr>
            <a:picLocks noChangeAspect="1"/>
          </p:cNvPicPr>
          <p:nvPr/>
        </p:nvPicPr>
        <p:blipFill>
          <a:blip r:embed="rId2"/>
          <a:stretch>
            <a:fillRect/>
          </a:stretch>
        </p:blipFill>
        <p:spPr>
          <a:xfrm>
            <a:off x="7679814" y="1106627"/>
            <a:ext cx="4097657" cy="4544161"/>
          </a:xfrm>
          <a:prstGeom prst="rect">
            <a:avLst/>
          </a:prstGeom>
        </p:spPr>
      </p:pic>
      <p:sp>
        <p:nvSpPr>
          <p:cNvPr id="4" name="TextBox 3">
            <a:extLst>
              <a:ext uri="{FF2B5EF4-FFF2-40B4-BE49-F238E27FC236}">
                <a16:creationId xmlns:a16="http://schemas.microsoft.com/office/drawing/2014/main" id="{53029F29-C1CB-58B2-A1E9-D258BC8E7D6B}"/>
              </a:ext>
            </a:extLst>
          </p:cNvPr>
          <p:cNvSpPr txBox="1"/>
          <p:nvPr/>
        </p:nvSpPr>
        <p:spPr>
          <a:xfrm>
            <a:off x="5743326" y="460296"/>
            <a:ext cx="6097604" cy="646331"/>
          </a:xfrm>
          <a:prstGeom prst="rect">
            <a:avLst/>
          </a:prstGeom>
          <a:noFill/>
        </p:spPr>
        <p:txBody>
          <a:bodyPr wrap="square">
            <a:spAutoFit/>
          </a:bodyPr>
          <a:lstStyle/>
          <a:p>
            <a:pPr marL="0" indent="0">
              <a:buNone/>
            </a:pPr>
            <a:r>
              <a:rPr lang="en-US" sz="1800" dirty="0"/>
              <a:t>Once the transaction is sent, it will appear as shown here in the Blockchain wallet software: </a:t>
            </a:r>
          </a:p>
        </p:txBody>
      </p:sp>
    </p:spTree>
    <p:extLst>
      <p:ext uri="{BB962C8B-B14F-4D97-AF65-F5344CB8AC3E}">
        <p14:creationId xmlns:p14="http://schemas.microsoft.com/office/powerpoint/2010/main" val="3153267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B23CE-F08C-D695-52C7-F19CD52E4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91789-D830-6CC0-CEBD-C7356F224CD6}"/>
              </a:ext>
            </a:extLst>
          </p:cNvPr>
          <p:cNvSpPr>
            <a:spLocks noGrp="1"/>
          </p:cNvSpPr>
          <p:nvPr>
            <p:ph type="title"/>
          </p:nvPr>
        </p:nvSpPr>
        <p:spPr>
          <a:xfrm>
            <a:off x="1115568" y="481264"/>
            <a:ext cx="9549224" cy="712270"/>
          </a:xfrm>
        </p:spPr>
        <p:txBody>
          <a:bodyPr>
            <a:normAutofit/>
          </a:bodyPr>
          <a:lstStyle/>
          <a:p>
            <a:r>
              <a:rPr lang="en-US" sz="2800" b="1" dirty="0"/>
              <a:t>Digital keys and addresses</a:t>
            </a:r>
            <a:endParaRPr lang="en-US" sz="2800" dirty="0"/>
          </a:p>
        </p:txBody>
      </p:sp>
      <p:sp>
        <p:nvSpPr>
          <p:cNvPr id="3" name="Content Placeholder 2">
            <a:extLst>
              <a:ext uri="{FF2B5EF4-FFF2-40B4-BE49-F238E27FC236}">
                <a16:creationId xmlns:a16="http://schemas.microsoft.com/office/drawing/2014/main" id="{2068CBD1-7E87-03E2-8CEB-DE63ABD82CCA}"/>
              </a:ext>
            </a:extLst>
          </p:cNvPr>
          <p:cNvSpPr>
            <a:spLocks noGrp="1"/>
          </p:cNvSpPr>
          <p:nvPr>
            <p:ph idx="1"/>
          </p:nvPr>
        </p:nvSpPr>
        <p:spPr>
          <a:xfrm>
            <a:off x="500514" y="1343205"/>
            <a:ext cx="11126804" cy="4855463"/>
          </a:xfrm>
        </p:spPr>
        <p:txBody>
          <a:bodyPr>
            <a:normAutofit fontScale="92500" lnSpcReduction="10000"/>
          </a:bodyPr>
          <a:lstStyle/>
          <a:p>
            <a:pPr marL="0" indent="0">
              <a:buNone/>
            </a:pPr>
            <a:r>
              <a:rPr lang="en-US" dirty="0"/>
              <a:t>On the Bitcoin network, possession of bitcoins and transfer of value via transactions is reliant upon private keys, public keys, and addresses.</a:t>
            </a:r>
          </a:p>
          <a:p>
            <a:r>
              <a:rPr lang="en-US" b="1" dirty="0"/>
              <a:t>Private keys in Bitcoin</a:t>
            </a:r>
          </a:p>
          <a:p>
            <a:pPr marL="0" indent="0">
              <a:buNone/>
            </a:pPr>
            <a:r>
              <a:rPr lang="en-US" sz="2600" dirty="0"/>
              <a:t>Private keys must be kept safe and typically reside only on the owner's side. Private keys are used to digitally sign the transactions, proving the ownership of the bitcoins.</a:t>
            </a:r>
          </a:p>
          <a:p>
            <a:pPr marL="0" indent="0">
              <a:buNone/>
            </a:pPr>
            <a:r>
              <a:rPr lang="en-US" sz="2600" dirty="0"/>
              <a:t>Private keys are fundamentally 256-bit numbers randomly chosen in the range specified by the secp256k1 ECDSA curve recommendation. </a:t>
            </a:r>
          </a:p>
          <a:p>
            <a:pPr marL="0" indent="0">
              <a:buNone/>
            </a:pPr>
            <a:r>
              <a:rPr lang="en-US" sz="2600" dirty="0"/>
              <a:t>Any randomly chosen 256-bit number from 0x1 to 0xFFFF FFFF </a:t>
            </a:r>
            <a:r>
              <a:rPr lang="en-US" sz="2600" dirty="0" err="1"/>
              <a:t>FFFF</a:t>
            </a:r>
            <a:r>
              <a:rPr lang="en-US" sz="2600" dirty="0"/>
              <a:t> </a:t>
            </a:r>
            <a:r>
              <a:rPr lang="en-US" sz="2600" dirty="0" err="1"/>
              <a:t>FFFF</a:t>
            </a:r>
            <a:r>
              <a:rPr lang="en-US" sz="2600" dirty="0"/>
              <a:t> </a:t>
            </a:r>
            <a:r>
              <a:rPr lang="en-US" sz="2600" dirty="0" err="1"/>
              <a:t>FFFF</a:t>
            </a:r>
            <a:r>
              <a:rPr lang="en-US" sz="2600" dirty="0"/>
              <a:t> </a:t>
            </a:r>
            <a:r>
              <a:rPr lang="en-US" sz="2600" dirty="0" err="1"/>
              <a:t>FFFF</a:t>
            </a:r>
            <a:r>
              <a:rPr lang="en-US" sz="2600" dirty="0"/>
              <a:t> </a:t>
            </a:r>
            <a:r>
              <a:rPr lang="en-US" sz="2600" dirty="0" err="1"/>
              <a:t>FFFF</a:t>
            </a:r>
            <a:r>
              <a:rPr lang="en-US" sz="2600" dirty="0"/>
              <a:t> FFFE BAAE DCE6 AF48 A03B BFD2 5E8C D036 4140 is a valid private key.</a:t>
            </a:r>
          </a:p>
        </p:txBody>
      </p:sp>
    </p:spTree>
    <p:extLst>
      <p:ext uri="{BB962C8B-B14F-4D97-AF65-F5344CB8AC3E}">
        <p14:creationId xmlns:p14="http://schemas.microsoft.com/office/powerpoint/2010/main" val="111823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D9ACC-B754-4A60-2B24-3C6859087E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A2F02-6923-3349-FA40-C7030BB99700}"/>
              </a:ext>
            </a:extLst>
          </p:cNvPr>
          <p:cNvSpPr>
            <a:spLocks noGrp="1"/>
          </p:cNvSpPr>
          <p:nvPr>
            <p:ph idx="1"/>
          </p:nvPr>
        </p:nvSpPr>
        <p:spPr>
          <a:xfrm>
            <a:off x="1543250" y="1424538"/>
            <a:ext cx="9105499" cy="4304899"/>
          </a:xfrm>
        </p:spPr>
        <p:txBody>
          <a:bodyPr>
            <a:normAutofit/>
          </a:bodyPr>
          <a:lstStyle/>
          <a:p>
            <a:pPr marL="0" indent="0">
              <a:buNone/>
            </a:pPr>
            <a:r>
              <a:rPr lang="en-US" b="1" dirty="0"/>
              <a:t>Public keys in Bitcoin</a:t>
            </a:r>
          </a:p>
          <a:p>
            <a:pPr marL="0" indent="0">
              <a:buNone/>
            </a:pPr>
            <a:r>
              <a:rPr lang="en-US" sz="2000" dirty="0"/>
              <a:t>	Public keys exist on the blockchain, and all network participants can see them. Public keys are derived from private keys due to their special mathematical relationship with the private keys. Once a transaction signed with the private key is broadcasted on the Bitcoin network, public keys are used by the nodes to verify that the transaction has indeed been signed with the corresponding private key. This process of verification proves the ownership of the Bitcoin.</a:t>
            </a:r>
          </a:p>
          <a:p>
            <a:pPr marL="0" indent="0">
              <a:buNone/>
            </a:pPr>
            <a:r>
              <a:rPr lang="en-US" sz="2000" dirty="0"/>
              <a:t>A public key is 256-bits in length. Public keys can be represented in an uncompressed or compressed format.</a:t>
            </a:r>
          </a:p>
        </p:txBody>
      </p:sp>
    </p:spTree>
    <p:extLst>
      <p:ext uri="{BB962C8B-B14F-4D97-AF65-F5344CB8AC3E}">
        <p14:creationId xmlns:p14="http://schemas.microsoft.com/office/powerpoint/2010/main" val="1314088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9A695-79DE-F185-0FFB-FA0AD614F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46D48-7C2C-BE5B-6336-3AA58002FFC2}"/>
              </a:ext>
            </a:extLst>
          </p:cNvPr>
          <p:cNvSpPr>
            <a:spLocks noGrp="1"/>
          </p:cNvSpPr>
          <p:nvPr>
            <p:ph type="title"/>
          </p:nvPr>
        </p:nvSpPr>
        <p:spPr/>
        <p:txBody>
          <a:bodyPr>
            <a:normAutofit fontScale="90000"/>
          </a:bodyPr>
          <a:lstStyle/>
          <a:p>
            <a:r>
              <a:rPr lang="en-US" b="1" dirty="0">
                <a:latin typeface="TimesNewRomanPS-BoldMT"/>
              </a:rPr>
              <a:t>Addresses in Bitcoin</a:t>
            </a:r>
            <a:br>
              <a:rPr lang="en-US" b="1" dirty="0">
                <a:latin typeface="TimesNewRomanPS-BoldMT"/>
              </a:rPr>
            </a:br>
            <a:endParaRPr lang="en-US" dirty="0"/>
          </a:p>
        </p:txBody>
      </p:sp>
      <p:sp>
        <p:nvSpPr>
          <p:cNvPr id="3" name="Content Placeholder 2">
            <a:extLst>
              <a:ext uri="{FF2B5EF4-FFF2-40B4-BE49-F238E27FC236}">
                <a16:creationId xmlns:a16="http://schemas.microsoft.com/office/drawing/2014/main" id="{DC735289-652E-BB83-CA92-BCA9FA849C67}"/>
              </a:ext>
            </a:extLst>
          </p:cNvPr>
          <p:cNvSpPr>
            <a:spLocks noGrp="1"/>
          </p:cNvSpPr>
          <p:nvPr>
            <p:ph idx="1"/>
          </p:nvPr>
        </p:nvSpPr>
        <p:spPr>
          <a:xfrm>
            <a:off x="1540041" y="1728216"/>
            <a:ext cx="8896631" cy="3694176"/>
          </a:xfrm>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A bitcoin address is created by taking the corresponding public key of a private key and hashing it twice, first with the SHA-256 algorithm and then with RIPEMD-160. The resultant 160-bit hash is then prefixed with a version number and finally encoded with a Base58Check encoding scheme. The bitcoin addresses are 26-35</a:t>
            </a:r>
          </a:p>
          <a:p>
            <a:pPr marL="0" indent="0">
              <a:buNone/>
            </a:pPr>
            <a:r>
              <a:rPr lang="en-US" dirty="0">
                <a:latin typeface="Times New Roman" panose="02020603050405020304" pitchFamily="18" charset="0"/>
                <a:cs typeface="Times New Roman" panose="02020603050405020304" pitchFamily="18" charset="0"/>
              </a:rPr>
              <a:t>characters long and begin with digit </a:t>
            </a:r>
            <a:r>
              <a:rPr lang="en-US" sz="105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or </a:t>
            </a:r>
            <a:r>
              <a:rPr lang="en-US" sz="105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 typical bitcoin address looks like a string shown here: </a:t>
            </a:r>
            <a:r>
              <a:rPr lang="en-US" sz="1050" b="1" dirty="0">
                <a:latin typeface="Times New Roman" panose="02020603050405020304" pitchFamily="18" charset="0"/>
                <a:cs typeface="Times New Roman" panose="02020603050405020304" pitchFamily="18" charset="0"/>
              </a:rPr>
              <a:t>1ANAguGG8bikEv2fYsTBnRUmx7QUcK58wt</a:t>
            </a:r>
          </a:p>
          <a:p>
            <a:pPr marL="0" indent="0">
              <a:buNone/>
            </a:pPr>
            <a:r>
              <a:rPr lang="en-US" dirty="0">
                <a:latin typeface="Times New Roman" panose="02020603050405020304" pitchFamily="18" charset="0"/>
                <a:cs typeface="Times New Roman" panose="02020603050405020304" pitchFamily="18" charset="0"/>
              </a:rPr>
              <a:t>Currently, there are two types of addresses, the commonly used P2PKH and another P2SH type, starting with number 1 and 3, respectively.</a:t>
            </a:r>
          </a:p>
          <a:p>
            <a:endParaRPr lang="en-US" dirty="0"/>
          </a:p>
        </p:txBody>
      </p:sp>
    </p:spTree>
    <p:extLst>
      <p:ext uri="{BB962C8B-B14F-4D97-AF65-F5344CB8AC3E}">
        <p14:creationId xmlns:p14="http://schemas.microsoft.com/office/powerpoint/2010/main" val="412992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BA31D-5E70-50C3-AA41-BAC25F844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FB463-CF87-5F2A-4FDC-77EB87E57354}"/>
              </a:ext>
            </a:extLst>
          </p:cNvPr>
          <p:cNvSpPr>
            <a:spLocks noGrp="1"/>
          </p:cNvSpPr>
          <p:nvPr>
            <p:ph type="title"/>
          </p:nvPr>
        </p:nvSpPr>
        <p:spPr/>
        <p:txBody>
          <a:bodyPr>
            <a:normAutofit fontScale="90000"/>
          </a:bodyPr>
          <a:lstStyle/>
          <a:p>
            <a:r>
              <a:rPr lang="en-US" b="1" dirty="0"/>
              <a:t>Base58Check encoding</a:t>
            </a:r>
            <a:br>
              <a:rPr lang="en-US" b="1" dirty="0"/>
            </a:br>
            <a:endParaRPr lang="en-US" dirty="0"/>
          </a:p>
        </p:txBody>
      </p:sp>
      <p:sp>
        <p:nvSpPr>
          <p:cNvPr id="3" name="Content Placeholder 2">
            <a:extLst>
              <a:ext uri="{FF2B5EF4-FFF2-40B4-BE49-F238E27FC236}">
                <a16:creationId xmlns:a16="http://schemas.microsoft.com/office/drawing/2014/main" id="{D7868F4F-F9C8-99C8-12AA-467E06BB51FC}"/>
              </a:ext>
            </a:extLst>
          </p:cNvPr>
          <p:cNvSpPr>
            <a:spLocks noGrp="1"/>
          </p:cNvSpPr>
          <p:nvPr>
            <p:ph idx="1"/>
          </p:nvPr>
        </p:nvSpPr>
        <p:spPr/>
        <p:txBody>
          <a:bodyPr>
            <a:normAutofit/>
          </a:bodyPr>
          <a:lstStyle/>
          <a:p>
            <a:pPr marL="0" indent="0">
              <a:buNone/>
            </a:pPr>
            <a:r>
              <a:rPr lang="en-US" dirty="0"/>
              <a:t>Bitcoin addresses are encoded using the Base58Check encoding. This encoding is used to limit the confusion between various characters, such as 0OIl, as they can look the same in different fonts. The encoding basically takes the binary byte arrays and converts them into human-readable strings. This string is composed by utilizing a set of 58 alphanumeric symbols.</a:t>
            </a:r>
          </a:p>
        </p:txBody>
      </p:sp>
    </p:spTree>
    <p:extLst>
      <p:ext uri="{BB962C8B-B14F-4D97-AF65-F5344CB8AC3E}">
        <p14:creationId xmlns:p14="http://schemas.microsoft.com/office/powerpoint/2010/main" val="335899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9C36F-6C05-7392-BFD0-FE0DCE649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E8A73-A75F-FAAA-A225-2F9137F8BC11}"/>
              </a:ext>
            </a:extLst>
          </p:cNvPr>
          <p:cNvSpPr>
            <a:spLocks noGrp="1"/>
          </p:cNvSpPr>
          <p:nvPr>
            <p:ph type="title"/>
          </p:nvPr>
        </p:nvSpPr>
        <p:spPr/>
        <p:txBody>
          <a:bodyPr>
            <a:normAutofit fontScale="90000"/>
          </a:bodyPr>
          <a:lstStyle/>
          <a:p>
            <a:r>
              <a:rPr lang="en-US" b="1" dirty="0"/>
              <a:t>Transactions</a:t>
            </a:r>
            <a:br>
              <a:rPr lang="en-US" b="1" dirty="0"/>
            </a:br>
            <a:endParaRPr lang="en-US" dirty="0"/>
          </a:p>
        </p:txBody>
      </p:sp>
      <p:sp>
        <p:nvSpPr>
          <p:cNvPr id="3" name="Content Placeholder 2">
            <a:extLst>
              <a:ext uri="{FF2B5EF4-FFF2-40B4-BE49-F238E27FC236}">
                <a16:creationId xmlns:a16="http://schemas.microsoft.com/office/drawing/2014/main" id="{542C94C1-A929-EC98-66EE-0B6F0AC9B960}"/>
              </a:ext>
            </a:extLst>
          </p:cNvPr>
          <p:cNvSpPr>
            <a:spLocks noGrp="1"/>
          </p:cNvSpPr>
          <p:nvPr>
            <p:ph idx="1"/>
          </p:nvPr>
        </p:nvSpPr>
        <p:spPr/>
        <p:txBody>
          <a:bodyPr>
            <a:normAutofit/>
          </a:bodyPr>
          <a:lstStyle/>
          <a:p>
            <a:pPr marL="0" indent="0">
              <a:buNone/>
            </a:pPr>
            <a:r>
              <a:rPr lang="en-US" dirty="0"/>
              <a:t>Transactions are at the core of the bitcoin ecosystem. Transactions can be as simple as just sending some bitcoins to a bitcoin address, or it can be quite complex depending on the requirements. Each transaction is composed of at least one input and output. Inputs can be thought of as coins being spent that have been created in a previous transaction and outputs as coins being created.</a:t>
            </a:r>
          </a:p>
        </p:txBody>
      </p:sp>
    </p:spTree>
    <p:extLst>
      <p:ext uri="{BB962C8B-B14F-4D97-AF65-F5344CB8AC3E}">
        <p14:creationId xmlns:p14="http://schemas.microsoft.com/office/powerpoint/2010/main" val="580558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016F5-DB4A-0F71-98A0-3318DB729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0226F-3995-7EE4-BD1E-0B70ACB16593}"/>
              </a:ext>
            </a:extLst>
          </p:cNvPr>
          <p:cNvSpPr>
            <a:spLocks noGrp="1"/>
          </p:cNvSpPr>
          <p:nvPr>
            <p:ph type="title"/>
          </p:nvPr>
        </p:nvSpPr>
        <p:spPr>
          <a:xfrm>
            <a:off x="942313" y="1299405"/>
            <a:ext cx="10168128" cy="452387"/>
          </a:xfrm>
        </p:spPr>
        <p:txBody>
          <a:bodyPr>
            <a:normAutofit fontScale="90000"/>
          </a:bodyPr>
          <a:lstStyle/>
          <a:p>
            <a:r>
              <a:rPr lang="en-US" b="1" dirty="0"/>
              <a:t>The transaction life cycle</a:t>
            </a:r>
            <a:br>
              <a:rPr lang="en-US" b="1" dirty="0"/>
            </a:br>
            <a:endParaRPr lang="en-US" dirty="0"/>
          </a:p>
        </p:txBody>
      </p:sp>
      <p:sp>
        <p:nvSpPr>
          <p:cNvPr id="3" name="Content Placeholder 2">
            <a:extLst>
              <a:ext uri="{FF2B5EF4-FFF2-40B4-BE49-F238E27FC236}">
                <a16:creationId xmlns:a16="http://schemas.microsoft.com/office/drawing/2014/main" id="{2E66B010-6D83-7524-6689-6C562D64F90C}"/>
              </a:ext>
            </a:extLst>
          </p:cNvPr>
          <p:cNvSpPr>
            <a:spLocks noGrp="1"/>
          </p:cNvSpPr>
          <p:nvPr>
            <p:ph idx="1"/>
          </p:nvPr>
        </p:nvSpPr>
        <p:spPr>
          <a:xfrm>
            <a:off x="770021" y="2098308"/>
            <a:ext cx="10857297" cy="4475748"/>
          </a:xfrm>
        </p:spPr>
        <p:txBody>
          <a:bodyPr>
            <a:normAutofit fontScale="55000" lnSpcReduction="20000"/>
          </a:bodyPr>
          <a:lstStyle/>
          <a:p>
            <a:pPr marL="0" indent="0">
              <a:buNone/>
            </a:pPr>
            <a:r>
              <a:rPr lang="en-US" dirty="0"/>
              <a:t>The following steps describe the transaction life cycle:</a:t>
            </a:r>
          </a:p>
          <a:p>
            <a:pPr marL="0" indent="0">
              <a:buNone/>
            </a:pPr>
            <a:r>
              <a:rPr lang="en-US" dirty="0"/>
              <a:t>1. A user/sender sends a transaction using wallet software or some other interface.</a:t>
            </a:r>
          </a:p>
          <a:p>
            <a:pPr marL="0" indent="0">
              <a:buNone/>
            </a:pPr>
            <a:r>
              <a:rPr lang="en-US" dirty="0"/>
              <a:t>2. The wallet software signs the transaction using the sender's private key.</a:t>
            </a:r>
          </a:p>
          <a:p>
            <a:pPr marL="0" indent="0">
              <a:buNone/>
            </a:pPr>
            <a:r>
              <a:rPr lang="en-US" dirty="0"/>
              <a:t>3. The transaction is broadcast to the Bitcoin network using a flooding algorithm.</a:t>
            </a:r>
          </a:p>
          <a:p>
            <a:pPr marL="0" indent="0">
              <a:buNone/>
            </a:pPr>
            <a:r>
              <a:rPr lang="en-US" dirty="0"/>
              <a:t>4. Mining nodes (miners) who are listening for the transactions verify and include this transaction in the next block to be mined. Just before the transaction is placed in the block, they are placed in a special memory buffer called the </a:t>
            </a:r>
            <a:r>
              <a:rPr lang="en-US" b="1" dirty="0"/>
              <a:t>transaction pool</a:t>
            </a:r>
            <a:r>
              <a:rPr lang="en-US" dirty="0"/>
              <a:t>. The purpose of the transaction pool is explained in the next section.</a:t>
            </a:r>
          </a:p>
          <a:p>
            <a:pPr marL="0" indent="0">
              <a:buNone/>
            </a:pPr>
            <a:r>
              <a:rPr lang="en-US" dirty="0"/>
              <a:t>5. Mining starts, which is a process by which the blockchain is secured, and new coins are generated as a reward for the miners who spend appropriate computational resources. This concept is explained in more detail later in this chapter.</a:t>
            </a:r>
          </a:p>
          <a:p>
            <a:pPr marL="0" indent="0">
              <a:buNone/>
            </a:pPr>
            <a:r>
              <a:rPr lang="en-US" dirty="0"/>
              <a:t>6. Once a miner solves the PoW problem, it broadcasts the newly mined block to the network. PoW is explained in detail later in this chapter.</a:t>
            </a:r>
          </a:p>
          <a:p>
            <a:pPr marL="0" indent="0">
              <a:buNone/>
            </a:pPr>
            <a:r>
              <a:rPr lang="en-US" dirty="0"/>
              <a:t>7. The nodes verify the block and propagate the block further, and confirmations start to generate.</a:t>
            </a:r>
          </a:p>
          <a:p>
            <a:pPr marL="0" indent="0">
              <a:buNone/>
            </a:pPr>
            <a:r>
              <a:rPr lang="en-US" dirty="0"/>
              <a:t>8. Finally, the confirmations start to appear in the receiver’s wallet, and after approximately three confirmations, the transaction is considered finalized and confirmed. However, three to six is just a recommended number; the transaction can be considered final even after the first confirmation. The key idea behind waiting for six confirmations is that the probability of double-spending is virtually eliminated after three confirmations.</a:t>
            </a:r>
          </a:p>
        </p:txBody>
      </p:sp>
    </p:spTree>
    <p:extLst>
      <p:ext uri="{BB962C8B-B14F-4D97-AF65-F5344CB8AC3E}">
        <p14:creationId xmlns:p14="http://schemas.microsoft.com/office/powerpoint/2010/main" val="3440903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A1354-B67F-C0FC-569E-8BE9FB9C63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525C47-DD39-6C24-8157-A684349FD038}"/>
              </a:ext>
            </a:extLst>
          </p:cNvPr>
          <p:cNvSpPr>
            <a:spLocks noGrp="1"/>
          </p:cNvSpPr>
          <p:nvPr>
            <p:ph idx="1"/>
          </p:nvPr>
        </p:nvSpPr>
        <p:spPr>
          <a:xfrm>
            <a:off x="760395" y="1540043"/>
            <a:ext cx="10982426" cy="4170145"/>
          </a:xfrm>
        </p:spPr>
        <p:txBody>
          <a:bodyPr>
            <a:normAutofit lnSpcReduction="10000"/>
          </a:bodyPr>
          <a:lstStyle/>
          <a:p>
            <a:r>
              <a:rPr lang="en-US" b="1" dirty="0"/>
              <a:t>Transaction fee</a:t>
            </a:r>
          </a:p>
          <a:p>
            <a:pPr marL="0" indent="0">
              <a:buNone/>
            </a:pPr>
            <a:r>
              <a:rPr lang="en-US" dirty="0"/>
              <a:t>Transaction fees are charged by the miners. The fee charged is dependent upon the size and weight of the transaction. Transaction fees are calculated by subtracting the sum of the inputs and the sum of the outputs.</a:t>
            </a:r>
          </a:p>
          <a:p>
            <a:pPr marL="0" indent="0">
              <a:buNone/>
            </a:pPr>
            <a:r>
              <a:rPr lang="en-US" dirty="0"/>
              <a:t>A simple formula can be used: </a:t>
            </a:r>
            <a:r>
              <a:rPr lang="en-US" i="1" dirty="0"/>
              <a:t>fee = sum(inputs) - sum(outputs)</a:t>
            </a:r>
          </a:p>
          <a:p>
            <a:pPr marL="0" indent="0">
              <a:buNone/>
            </a:pPr>
            <a:r>
              <a:rPr lang="en-US" dirty="0"/>
              <a:t>The fees are used as an incentive for miners to encourage them to include a user transaction in the block the miners are creating</a:t>
            </a:r>
          </a:p>
        </p:txBody>
      </p:sp>
    </p:spTree>
    <p:extLst>
      <p:ext uri="{BB962C8B-B14F-4D97-AF65-F5344CB8AC3E}">
        <p14:creationId xmlns:p14="http://schemas.microsoft.com/office/powerpoint/2010/main" val="1312019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90369-9B33-125C-1A67-8C5B1BD7B2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ED5E82-68A9-692A-FF10-52B0DED837DF}"/>
              </a:ext>
            </a:extLst>
          </p:cNvPr>
          <p:cNvSpPr>
            <a:spLocks noGrp="1"/>
          </p:cNvSpPr>
          <p:nvPr>
            <p:ph idx="1"/>
          </p:nvPr>
        </p:nvSpPr>
        <p:spPr>
          <a:xfrm>
            <a:off x="884562" y="1419245"/>
            <a:ext cx="10168128" cy="3694176"/>
          </a:xfrm>
        </p:spPr>
        <p:txBody>
          <a:bodyPr>
            <a:normAutofit/>
          </a:bodyPr>
          <a:lstStyle/>
          <a:p>
            <a:r>
              <a:rPr lang="en-US" b="1" dirty="0"/>
              <a:t>Transaction pools</a:t>
            </a:r>
          </a:p>
          <a:p>
            <a:pPr marL="0" indent="0">
              <a:buNone/>
            </a:pPr>
            <a:r>
              <a:rPr lang="en-US" dirty="0"/>
              <a:t>Also known as memory pools, these pools are basically created in local memory (computer RAM) by nodes in order to maintain a temporary list of transactions that are not yet confirmed in a block. Transactions are included in a block after verification, based on their priority.</a:t>
            </a:r>
          </a:p>
        </p:txBody>
      </p:sp>
    </p:spTree>
    <p:extLst>
      <p:ext uri="{BB962C8B-B14F-4D97-AF65-F5344CB8AC3E}">
        <p14:creationId xmlns:p14="http://schemas.microsoft.com/office/powerpoint/2010/main" val="1153824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D83C14-DC5E-0F75-593E-15A7813F242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B6EF59-CA79-1402-9E28-E15DE7B4FD56}"/>
              </a:ext>
            </a:extLst>
          </p:cNvPr>
          <p:cNvSpPr>
            <a:spLocks noGrp="1"/>
          </p:cNvSpPr>
          <p:nvPr>
            <p:ph type="title"/>
          </p:nvPr>
        </p:nvSpPr>
        <p:spPr>
          <a:xfrm>
            <a:off x="371094" y="1161288"/>
            <a:ext cx="3438144" cy="1239012"/>
          </a:xfrm>
        </p:spPr>
        <p:txBody>
          <a:bodyPr anchor="ctr">
            <a:normAutofit/>
          </a:bodyPr>
          <a:lstStyle/>
          <a:p>
            <a:r>
              <a:rPr lang="en-US" sz="2600" b="1"/>
              <a:t>The transaction data structure</a:t>
            </a:r>
            <a:br>
              <a:rPr lang="en-US" sz="2600" b="1"/>
            </a:br>
            <a:endParaRPr lang="en-US" sz="2600"/>
          </a:p>
        </p:txBody>
      </p:sp>
      <p:sp>
        <p:nvSpPr>
          <p:cNvPr id="20" name="Rectangle 19">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AC4236D-0E5F-D52A-6AE8-7AE287DEA6DF}"/>
              </a:ext>
            </a:extLst>
          </p:cNvPr>
          <p:cNvSpPr>
            <a:spLocks noGrp="1"/>
          </p:cNvSpPr>
          <p:nvPr>
            <p:ph idx="1"/>
          </p:nvPr>
        </p:nvSpPr>
        <p:spPr>
          <a:xfrm>
            <a:off x="371094" y="2718054"/>
            <a:ext cx="3438906" cy="3207258"/>
          </a:xfrm>
        </p:spPr>
        <p:txBody>
          <a:bodyPr anchor="t">
            <a:normAutofit/>
          </a:bodyPr>
          <a:lstStyle/>
          <a:p>
            <a:r>
              <a:rPr lang="en-US" sz="1700"/>
              <a:t>A transaction at a high level contains metadata, inputs, and outputs. Transactions are combined to create a block.</a:t>
            </a:r>
          </a:p>
        </p:txBody>
      </p:sp>
      <p:pic>
        <p:nvPicPr>
          <p:cNvPr id="9" name="Picture 8">
            <a:extLst>
              <a:ext uri="{FF2B5EF4-FFF2-40B4-BE49-F238E27FC236}">
                <a16:creationId xmlns:a16="http://schemas.microsoft.com/office/drawing/2014/main" id="{2FCB5FE8-ADC9-5CC0-FDE8-6852FB4D3093}"/>
              </a:ext>
            </a:extLst>
          </p:cNvPr>
          <p:cNvPicPr>
            <a:picLocks noChangeAspect="1"/>
          </p:cNvPicPr>
          <p:nvPr/>
        </p:nvPicPr>
        <p:blipFill>
          <a:blip r:embed="rId2"/>
          <a:stretch>
            <a:fillRect/>
          </a:stretch>
        </p:blipFill>
        <p:spPr>
          <a:xfrm>
            <a:off x="4969205" y="841248"/>
            <a:ext cx="6785966" cy="5276088"/>
          </a:xfrm>
          <a:prstGeom prst="rect">
            <a:avLst/>
          </a:prstGeom>
        </p:spPr>
      </p:pic>
    </p:spTree>
    <p:extLst>
      <p:ext uri="{BB962C8B-B14F-4D97-AF65-F5344CB8AC3E}">
        <p14:creationId xmlns:p14="http://schemas.microsoft.com/office/powerpoint/2010/main" val="1948365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2F50-D2C3-3E6F-2E6C-07CDC76F5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89983-B352-75F2-28F9-43F52532C63A}"/>
              </a:ext>
            </a:extLst>
          </p:cNvPr>
          <p:cNvSpPr>
            <a:spLocks noGrp="1"/>
          </p:cNvSpPr>
          <p:nvPr>
            <p:ph type="title"/>
          </p:nvPr>
        </p:nvSpPr>
        <p:spPr/>
        <p:txBody>
          <a:bodyPr>
            <a:normAutofit fontScale="90000"/>
          </a:bodyPr>
          <a:lstStyle/>
          <a:p>
            <a:r>
              <a:rPr lang="en-US" b="1" dirty="0"/>
              <a:t>Types of transactions</a:t>
            </a:r>
            <a:br>
              <a:rPr lang="en-US" b="1" dirty="0"/>
            </a:br>
            <a:endParaRPr lang="en-US" dirty="0"/>
          </a:p>
        </p:txBody>
      </p:sp>
      <p:sp>
        <p:nvSpPr>
          <p:cNvPr id="3" name="Content Placeholder 2">
            <a:extLst>
              <a:ext uri="{FF2B5EF4-FFF2-40B4-BE49-F238E27FC236}">
                <a16:creationId xmlns:a16="http://schemas.microsoft.com/office/drawing/2014/main" id="{79AEB411-8B4A-B3A4-FE00-E1B0553C9D3D}"/>
              </a:ext>
            </a:extLst>
          </p:cNvPr>
          <p:cNvSpPr>
            <a:spLocks noGrp="1"/>
          </p:cNvSpPr>
          <p:nvPr>
            <p:ph idx="1"/>
          </p:nvPr>
        </p:nvSpPr>
        <p:spPr>
          <a:xfrm>
            <a:off x="760395" y="1588168"/>
            <a:ext cx="10982425" cy="4584032"/>
          </a:xfrm>
        </p:spPr>
        <p:txBody>
          <a:bodyPr>
            <a:normAutofit lnSpcReduction="10000"/>
          </a:bodyPr>
          <a:lstStyle/>
          <a:p>
            <a:pPr marL="0" indent="0">
              <a:buNone/>
            </a:pPr>
            <a:r>
              <a:rPr lang="en-US" sz="1600" dirty="0"/>
              <a:t>There are various scripts available in Bitcoin to handle the value transfer from the source to the destination. These scripts range from very simple to quite complex, depending upon the requirements of the transaction.</a:t>
            </a:r>
          </a:p>
          <a:p>
            <a:r>
              <a:rPr lang="en-US" sz="1600" dirty="0"/>
              <a:t>The following are the standard transaction types:</a:t>
            </a:r>
          </a:p>
          <a:p>
            <a:r>
              <a:rPr lang="en-US" sz="1600" b="1" dirty="0"/>
              <a:t>Pay to Public Key Hash </a:t>
            </a:r>
            <a:r>
              <a:rPr lang="en-US" sz="1600" dirty="0"/>
              <a:t>(</a:t>
            </a:r>
            <a:r>
              <a:rPr lang="en-US" sz="1600" b="1" dirty="0"/>
              <a:t>P2PKH</a:t>
            </a:r>
            <a:r>
              <a:rPr lang="en-US" sz="1600" dirty="0"/>
              <a:t>): P2PKH is the most commonly used transaction type and is used to send transactions to the Bitcoin addresses.</a:t>
            </a:r>
          </a:p>
          <a:p>
            <a:r>
              <a:rPr lang="en-US" sz="1600" b="1" dirty="0"/>
              <a:t>Pay to Script Hash </a:t>
            </a:r>
            <a:r>
              <a:rPr lang="en-US" sz="1600" dirty="0"/>
              <a:t>(</a:t>
            </a:r>
            <a:r>
              <a:rPr lang="en-US" sz="1600" b="1" dirty="0"/>
              <a:t>P2SH</a:t>
            </a:r>
            <a:r>
              <a:rPr lang="en-US" sz="1600" dirty="0"/>
              <a:t>): P2SH is used in order to send transactions to a script hash (that is, the addresses starting with 3) and was standardized in BIP16. In addition to passing the script, the redeem script is also evaluated and must be valid.</a:t>
            </a:r>
          </a:p>
          <a:p>
            <a:r>
              <a:rPr lang="en-US" sz="1600" b="1" dirty="0" err="1"/>
              <a:t>MultiSig</a:t>
            </a:r>
            <a:r>
              <a:rPr lang="en-US" sz="1600" b="1" dirty="0"/>
              <a:t> </a:t>
            </a:r>
            <a:r>
              <a:rPr lang="en-US" sz="1600" dirty="0"/>
              <a:t>(</a:t>
            </a:r>
            <a:r>
              <a:rPr lang="en-US" sz="1600" b="1" dirty="0"/>
              <a:t>Pay to </a:t>
            </a:r>
            <a:r>
              <a:rPr lang="en-US" sz="1600" b="1" dirty="0" err="1"/>
              <a:t>MultiSig</a:t>
            </a:r>
            <a:r>
              <a:rPr lang="en-US" sz="1600" dirty="0"/>
              <a:t>): M-of-N </a:t>
            </a:r>
            <a:r>
              <a:rPr lang="en-US" sz="1600" dirty="0" err="1"/>
              <a:t>MultiSig</a:t>
            </a:r>
            <a:r>
              <a:rPr lang="en-US" sz="1600" dirty="0"/>
              <a:t> transaction script is a complex type of script where it is possible to construct a script that requires multiple signatures to be valid in order to redeem a transaction. Various complex transactions, such as escrow and deposits, can be built using this script.</a:t>
            </a:r>
          </a:p>
          <a:p>
            <a:r>
              <a:rPr lang="en-US" sz="1600" b="1" dirty="0"/>
              <a:t>Pay to </a:t>
            </a:r>
            <a:r>
              <a:rPr lang="en-US" sz="1600" b="1" dirty="0" err="1"/>
              <a:t>Pubkey</a:t>
            </a:r>
            <a:r>
              <a:rPr lang="en-US" sz="1600" dirty="0"/>
              <a:t>: This script is a very simple script that is commonly used in Coinbase transactions. It is now obsolete and was used in an old version of Bitcoin.</a:t>
            </a:r>
          </a:p>
          <a:p>
            <a:r>
              <a:rPr lang="en-US" sz="1600" b="1" dirty="0"/>
              <a:t>Null data/OP_RETURN</a:t>
            </a:r>
            <a:r>
              <a:rPr lang="en-US" sz="1600" dirty="0"/>
              <a:t>: This script is used to store arbitrary data on the blockchain for a fee. The limit of the message is 40 bytes.</a:t>
            </a:r>
          </a:p>
        </p:txBody>
      </p:sp>
    </p:spTree>
    <p:extLst>
      <p:ext uri="{BB962C8B-B14F-4D97-AF65-F5344CB8AC3E}">
        <p14:creationId xmlns:p14="http://schemas.microsoft.com/office/powerpoint/2010/main" val="2688576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A1E09-0D9A-37C9-A405-58CB6E9F3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7AB5D-1959-D97C-D121-D554433939D1}"/>
              </a:ext>
            </a:extLst>
          </p:cNvPr>
          <p:cNvSpPr>
            <a:spLocks noGrp="1"/>
          </p:cNvSpPr>
          <p:nvPr>
            <p:ph type="title"/>
          </p:nvPr>
        </p:nvSpPr>
        <p:spPr/>
        <p:txBody>
          <a:bodyPr>
            <a:normAutofit fontScale="90000"/>
          </a:bodyPr>
          <a:lstStyle/>
          <a:p>
            <a:r>
              <a:rPr lang="en-US" b="1" dirty="0"/>
              <a:t>Transaction verification</a:t>
            </a:r>
            <a:br>
              <a:rPr lang="en-US" b="1" dirty="0"/>
            </a:br>
            <a:endParaRPr lang="en-US" dirty="0"/>
          </a:p>
        </p:txBody>
      </p:sp>
      <p:sp>
        <p:nvSpPr>
          <p:cNvPr id="3" name="Content Placeholder 2">
            <a:extLst>
              <a:ext uri="{FF2B5EF4-FFF2-40B4-BE49-F238E27FC236}">
                <a16:creationId xmlns:a16="http://schemas.microsoft.com/office/drawing/2014/main" id="{53391A79-9007-726E-8A9D-2DEFA43C44EB}"/>
              </a:ext>
            </a:extLst>
          </p:cNvPr>
          <p:cNvSpPr>
            <a:spLocks noGrp="1"/>
          </p:cNvSpPr>
          <p:nvPr>
            <p:ph idx="1"/>
          </p:nvPr>
        </p:nvSpPr>
        <p:spPr>
          <a:xfrm>
            <a:off x="1115568" y="1728216"/>
            <a:ext cx="10168128" cy="4443984"/>
          </a:xfrm>
        </p:spPr>
        <p:txBody>
          <a:bodyPr>
            <a:normAutofit lnSpcReduction="10000"/>
          </a:bodyPr>
          <a:lstStyle/>
          <a:p>
            <a:pPr marL="0" indent="0">
              <a:buNone/>
            </a:pPr>
            <a:r>
              <a:rPr lang="en-US" sz="1600" dirty="0"/>
              <a:t>This verification process is performed by Bitcoin nodes. The following is described in the Bitcoin developer guide:</a:t>
            </a:r>
          </a:p>
          <a:p>
            <a:pPr marL="0" indent="0">
              <a:buNone/>
            </a:pPr>
            <a:r>
              <a:rPr lang="en-US" sz="1600" dirty="0"/>
              <a:t>1. Check the syntax and ensure that the syntax and data structure of the transaction conform to the rules provided by the protocol.</a:t>
            </a:r>
          </a:p>
          <a:p>
            <a:pPr marL="0" indent="0">
              <a:buNone/>
            </a:pPr>
            <a:r>
              <a:rPr lang="en-US" sz="1600" dirty="0"/>
              <a:t>2. Verify that no transaction inputs and outputs are empty.</a:t>
            </a:r>
          </a:p>
          <a:p>
            <a:pPr marL="0" indent="0">
              <a:buNone/>
            </a:pPr>
            <a:r>
              <a:rPr lang="en-US" sz="1600" dirty="0"/>
              <a:t>3. Check whether the size in bytes is less than the maximum block size.</a:t>
            </a:r>
          </a:p>
          <a:p>
            <a:pPr marL="0" indent="0">
              <a:buNone/>
            </a:pPr>
            <a:r>
              <a:rPr lang="en-US" sz="1600" dirty="0"/>
              <a:t>4. The output value must be in the allowed money range (0 to 21 million BTC).</a:t>
            </a:r>
          </a:p>
          <a:p>
            <a:pPr marL="0" indent="0">
              <a:buNone/>
            </a:pPr>
            <a:r>
              <a:rPr lang="en-US" sz="1600" dirty="0"/>
              <a:t>5. All inputs must have a specified previous output, except for </a:t>
            </a:r>
            <a:r>
              <a:rPr lang="en-US" sz="1600" dirty="0" err="1"/>
              <a:t>coinbase</a:t>
            </a:r>
            <a:r>
              <a:rPr lang="en-US" sz="1600" dirty="0"/>
              <a:t> transactions, which should not be relayed.</a:t>
            </a:r>
          </a:p>
          <a:p>
            <a:pPr marL="0" indent="0">
              <a:buNone/>
            </a:pPr>
            <a:r>
              <a:rPr lang="en-US" sz="1600" dirty="0"/>
              <a:t>6. Verify that n </a:t>
            </a:r>
            <a:r>
              <a:rPr lang="en-US" sz="1600" dirty="0" err="1"/>
              <a:t>LockTime</a:t>
            </a:r>
            <a:r>
              <a:rPr lang="en-US" sz="1600" dirty="0"/>
              <a:t> must not exceed 31 bits. (</a:t>
            </a:r>
            <a:r>
              <a:rPr lang="en-US" sz="1600" dirty="0" err="1"/>
              <a:t>nLockTime</a:t>
            </a:r>
            <a:r>
              <a:rPr lang="en-US" sz="1600" dirty="0"/>
              <a:t> specifies the time before which the transaction will not be included in the block.)</a:t>
            </a:r>
          </a:p>
          <a:p>
            <a:pPr marL="0" indent="0">
              <a:buNone/>
            </a:pPr>
            <a:r>
              <a:rPr lang="en-US" sz="1600" dirty="0"/>
              <a:t>7. For a transaction to be valid, it should not be less than 100 bytes.</a:t>
            </a:r>
          </a:p>
          <a:p>
            <a:pPr marL="0" indent="0">
              <a:buNone/>
            </a:pPr>
            <a:r>
              <a:rPr lang="en-US" sz="1600" dirty="0"/>
              <a:t>8. The number of signature operations in a standard transaction should be less than or not more than two</a:t>
            </a:r>
          </a:p>
        </p:txBody>
      </p:sp>
    </p:spTree>
    <p:extLst>
      <p:ext uri="{BB962C8B-B14F-4D97-AF65-F5344CB8AC3E}">
        <p14:creationId xmlns:p14="http://schemas.microsoft.com/office/powerpoint/2010/main" val="1062588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581F9-1D1B-EC81-C02A-2FA10F0322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21BFF3-3582-5817-8D22-78F59460A534}"/>
              </a:ext>
            </a:extLst>
          </p:cNvPr>
          <p:cNvSpPr>
            <a:spLocks noGrp="1"/>
          </p:cNvSpPr>
          <p:nvPr>
            <p:ph idx="1"/>
          </p:nvPr>
        </p:nvSpPr>
        <p:spPr>
          <a:xfrm>
            <a:off x="654518" y="1347537"/>
            <a:ext cx="10629178" cy="4824663"/>
          </a:xfrm>
        </p:spPr>
        <p:txBody>
          <a:bodyPr>
            <a:normAutofit fontScale="92500"/>
          </a:bodyPr>
          <a:lstStyle/>
          <a:p>
            <a:pPr marL="0" indent="0">
              <a:buNone/>
            </a:pPr>
            <a:r>
              <a:rPr lang="en-US" sz="1600" dirty="0"/>
              <a:t>9. Reject nonstandard transactions; for example, </a:t>
            </a:r>
            <a:r>
              <a:rPr lang="en-US" sz="1600" dirty="0" err="1"/>
              <a:t>ScriptSig</a:t>
            </a:r>
            <a:r>
              <a:rPr lang="en-US" sz="1600" dirty="0"/>
              <a:t> is allowed to only push numbers on the stack. </a:t>
            </a:r>
            <a:r>
              <a:rPr lang="en-US" sz="1600" dirty="0" err="1"/>
              <a:t>ScriptPubkey</a:t>
            </a:r>
            <a:r>
              <a:rPr lang="en-US" sz="1600" dirty="0"/>
              <a:t> not passing the </a:t>
            </a:r>
            <a:r>
              <a:rPr lang="en-US" sz="1600" dirty="0" err="1"/>
              <a:t>isStandard</a:t>
            </a:r>
            <a:r>
              <a:rPr lang="en-US" sz="1600" dirty="0"/>
              <a:t>() checks. The </a:t>
            </a:r>
            <a:r>
              <a:rPr lang="en-US" sz="1600" dirty="0" err="1"/>
              <a:t>isStandard</a:t>
            </a:r>
            <a:r>
              <a:rPr lang="en-US" sz="1600" dirty="0"/>
              <a:t>() checks specify that only standard transactions are allowed.</a:t>
            </a:r>
          </a:p>
          <a:p>
            <a:pPr marL="0" indent="0">
              <a:buNone/>
            </a:pPr>
            <a:r>
              <a:rPr lang="en-US" sz="1600" dirty="0"/>
              <a:t>10. A transaction is rejected if there is already a matching transaction in the pool or in a block in the main branch.</a:t>
            </a:r>
          </a:p>
          <a:p>
            <a:pPr marL="0" indent="0">
              <a:buNone/>
            </a:pPr>
            <a:r>
              <a:rPr lang="en-US" sz="1600" dirty="0"/>
              <a:t>11. The transaction will be rejected if the referenced output for each input exists in any other transaction in the pool.</a:t>
            </a:r>
          </a:p>
          <a:p>
            <a:pPr marL="0" indent="0">
              <a:buNone/>
            </a:pPr>
            <a:r>
              <a:rPr lang="en-US" sz="1600" dirty="0"/>
              <a:t>12. For each input, there must exist a referenced output unspent transaction.</a:t>
            </a:r>
          </a:p>
          <a:p>
            <a:pPr marL="0" indent="0">
              <a:buNone/>
            </a:pPr>
            <a:r>
              <a:rPr lang="en-US" sz="1600" dirty="0"/>
              <a:t>13. For each input, if the referenced output transaction is the </a:t>
            </a:r>
            <a:r>
              <a:rPr lang="en-US" sz="1600" dirty="0" err="1"/>
              <a:t>coinbase</a:t>
            </a:r>
            <a:r>
              <a:rPr lang="en-US" sz="1600" dirty="0"/>
              <a:t>, it must have at least 100 confirmations. Otherwise, the transaction will be rejected.</a:t>
            </a:r>
          </a:p>
          <a:p>
            <a:pPr marL="0" indent="0">
              <a:buNone/>
            </a:pPr>
            <a:r>
              <a:rPr lang="en-US" sz="1600" dirty="0"/>
              <a:t>14. For each input, if the referenced output does not exist or has already been spent, the transaction will be rejected.</a:t>
            </a:r>
          </a:p>
          <a:p>
            <a:pPr marL="0" indent="0">
              <a:buNone/>
            </a:pPr>
            <a:r>
              <a:rPr lang="en-US" sz="1600" dirty="0"/>
              <a:t>15. Using the referenced output transactions to get input values, verify that each input value, as well as the sum, is in the allowed range of 0-21 million BTC. Reject the transaction if the sum of input values is less than the sum of output values.</a:t>
            </a:r>
          </a:p>
          <a:p>
            <a:pPr marL="0" indent="0">
              <a:buNone/>
            </a:pPr>
            <a:r>
              <a:rPr lang="en-US" sz="1600" dirty="0"/>
              <a:t>16. Reject the transaction if the transaction fee would be too low to get into an empty block.</a:t>
            </a:r>
          </a:p>
          <a:p>
            <a:pPr marL="0" indent="0">
              <a:buNone/>
            </a:pPr>
            <a:r>
              <a:rPr lang="en-US" sz="1600" dirty="0"/>
              <a:t>17. Each input unlocking script must have corresponding valid output scripts.</a:t>
            </a:r>
          </a:p>
        </p:txBody>
      </p:sp>
    </p:spTree>
    <p:extLst>
      <p:ext uri="{BB962C8B-B14F-4D97-AF65-F5344CB8AC3E}">
        <p14:creationId xmlns:p14="http://schemas.microsoft.com/office/powerpoint/2010/main" val="4242374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B58BE-A61D-CBD3-6335-B4CC31152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D594E-9C00-9F03-273A-AF61C222AA42}"/>
              </a:ext>
            </a:extLst>
          </p:cNvPr>
          <p:cNvSpPr>
            <a:spLocks noGrp="1"/>
          </p:cNvSpPr>
          <p:nvPr>
            <p:ph type="title"/>
          </p:nvPr>
        </p:nvSpPr>
        <p:spPr/>
        <p:txBody>
          <a:bodyPr/>
          <a:lstStyle/>
          <a:p>
            <a:r>
              <a:rPr lang="en-US" b="1" dirty="0"/>
              <a:t>The structure of a block</a:t>
            </a:r>
            <a:endParaRPr lang="en-US" dirty="0"/>
          </a:p>
        </p:txBody>
      </p:sp>
      <p:sp>
        <p:nvSpPr>
          <p:cNvPr id="3" name="Content Placeholder 2">
            <a:extLst>
              <a:ext uri="{FF2B5EF4-FFF2-40B4-BE49-F238E27FC236}">
                <a16:creationId xmlns:a16="http://schemas.microsoft.com/office/drawing/2014/main" id="{178BB021-459D-7BF4-5B60-003B62ACD85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25B3A5F-8FFE-42DF-5A51-951F1FB7C8CF}"/>
              </a:ext>
            </a:extLst>
          </p:cNvPr>
          <p:cNvPicPr>
            <a:picLocks noChangeAspect="1"/>
          </p:cNvPicPr>
          <p:nvPr/>
        </p:nvPicPr>
        <p:blipFill>
          <a:blip r:embed="rId2"/>
          <a:stretch>
            <a:fillRect/>
          </a:stretch>
        </p:blipFill>
        <p:spPr>
          <a:xfrm>
            <a:off x="816429" y="1817914"/>
            <a:ext cx="10700657" cy="4713515"/>
          </a:xfrm>
          <a:prstGeom prst="rect">
            <a:avLst/>
          </a:prstGeom>
        </p:spPr>
      </p:pic>
    </p:spTree>
    <p:extLst>
      <p:ext uri="{BB962C8B-B14F-4D97-AF65-F5344CB8AC3E}">
        <p14:creationId xmlns:p14="http://schemas.microsoft.com/office/powerpoint/2010/main" val="2546251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71227-F745-721D-2B31-BD7E65A8E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2DE7B-62DC-DCD8-33F5-095D130063A9}"/>
              </a:ext>
            </a:extLst>
          </p:cNvPr>
          <p:cNvSpPr>
            <a:spLocks noGrp="1"/>
          </p:cNvSpPr>
          <p:nvPr>
            <p:ph type="title"/>
          </p:nvPr>
        </p:nvSpPr>
        <p:spPr/>
        <p:txBody>
          <a:bodyPr>
            <a:normAutofit fontScale="90000"/>
          </a:bodyPr>
          <a:lstStyle/>
          <a:p>
            <a:r>
              <a:rPr lang="en-US" b="1" dirty="0"/>
              <a:t>Mining</a:t>
            </a:r>
            <a:br>
              <a:rPr lang="en-US" b="1" dirty="0"/>
            </a:br>
            <a:endParaRPr lang="en-US" dirty="0"/>
          </a:p>
        </p:txBody>
      </p:sp>
      <p:sp>
        <p:nvSpPr>
          <p:cNvPr id="3" name="Content Placeholder 2">
            <a:extLst>
              <a:ext uri="{FF2B5EF4-FFF2-40B4-BE49-F238E27FC236}">
                <a16:creationId xmlns:a16="http://schemas.microsoft.com/office/drawing/2014/main" id="{F8A53980-64E2-D4D6-3F68-8F26CD29AD61}"/>
              </a:ext>
            </a:extLst>
          </p:cNvPr>
          <p:cNvSpPr>
            <a:spLocks noGrp="1"/>
          </p:cNvSpPr>
          <p:nvPr>
            <p:ph idx="1"/>
          </p:nvPr>
        </p:nvSpPr>
        <p:spPr>
          <a:xfrm>
            <a:off x="721895" y="1414914"/>
            <a:ext cx="10905423" cy="4757286"/>
          </a:xfrm>
        </p:spPr>
        <p:txBody>
          <a:bodyPr>
            <a:normAutofit/>
          </a:bodyPr>
          <a:lstStyle/>
          <a:p>
            <a:r>
              <a:rPr lang="en-US" dirty="0"/>
              <a:t>Mining is a process by which new blocks are added to the blockchain. Blocks contain transactions that are validated by mining nodes on the Bitcoin network. Blocks, once mined and verified, are added to the blockchain, which keeps the blockchain growing. This process is resource-intensive due to the requirements of PoW, where miners compete in order to find a number that is less than the difficulty target of the network.</a:t>
            </a:r>
          </a:p>
        </p:txBody>
      </p:sp>
    </p:spTree>
    <p:extLst>
      <p:ext uri="{BB962C8B-B14F-4D97-AF65-F5344CB8AC3E}">
        <p14:creationId xmlns:p14="http://schemas.microsoft.com/office/powerpoint/2010/main" val="3451143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890EE-8957-4181-F81C-69E2D7A55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A527C-6B17-CD53-F14C-BCB1F5E67E97}"/>
              </a:ext>
            </a:extLst>
          </p:cNvPr>
          <p:cNvSpPr>
            <a:spLocks noGrp="1"/>
          </p:cNvSpPr>
          <p:nvPr>
            <p:ph type="title"/>
          </p:nvPr>
        </p:nvSpPr>
        <p:spPr/>
        <p:txBody>
          <a:bodyPr/>
          <a:lstStyle/>
          <a:p>
            <a:r>
              <a:rPr lang="en-US" b="1" dirty="0"/>
              <a:t>Tasks of the miners</a:t>
            </a:r>
            <a:endParaRPr lang="en-US" dirty="0"/>
          </a:p>
        </p:txBody>
      </p:sp>
      <p:sp>
        <p:nvSpPr>
          <p:cNvPr id="3" name="Content Placeholder 2">
            <a:extLst>
              <a:ext uri="{FF2B5EF4-FFF2-40B4-BE49-F238E27FC236}">
                <a16:creationId xmlns:a16="http://schemas.microsoft.com/office/drawing/2014/main" id="{8530AE9A-402D-E369-41AB-2FB59E2E4E33}"/>
              </a:ext>
            </a:extLst>
          </p:cNvPr>
          <p:cNvSpPr>
            <a:spLocks noGrp="1"/>
          </p:cNvSpPr>
          <p:nvPr>
            <p:ph idx="1"/>
          </p:nvPr>
        </p:nvSpPr>
        <p:spPr>
          <a:xfrm>
            <a:off x="606392" y="1540042"/>
            <a:ext cx="11001675" cy="4769318"/>
          </a:xfrm>
        </p:spPr>
        <p:txBody>
          <a:bodyPr>
            <a:normAutofit fontScale="40000" lnSpcReduction="20000"/>
          </a:bodyPr>
          <a:lstStyle/>
          <a:p>
            <a:pPr marL="0" indent="0">
              <a:buNone/>
            </a:pPr>
            <a:r>
              <a:rPr lang="en-US" sz="4000" b="1" dirty="0"/>
              <a:t>Once a node connects to the Bitcoin network, there are several tasks that a Bitcoin miner performs:</a:t>
            </a:r>
          </a:p>
          <a:p>
            <a:pPr marL="0" indent="0">
              <a:buNone/>
            </a:pPr>
            <a:r>
              <a:rPr lang="en-US" sz="3700" dirty="0"/>
              <a:t>1. </a:t>
            </a:r>
            <a:r>
              <a:rPr lang="en-US" sz="3700" b="1" dirty="0"/>
              <a:t>Syncing up with the network: Once a new node joins the Bitcoin</a:t>
            </a:r>
            <a:r>
              <a:rPr lang="en-US" sz="3700" dirty="0"/>
              <a:t> network, it downloads the blockchain by requesting historical blocks from other nodes. This is mentioned here in the context of the bitcoin miner; however, this not necessarily a task only for a miner.</a:t>
            </a:r>
          </a:p>
          <a:p>
            <a:pPr marL="0" indent="0">
              <a:buNone/>
            </a:pPr>
            <a:r>
              <a:rPr lang="en-US" sz="3700" dirty="0"/>
              <a:t>2. </a:t>
            </a:r>
            <a:r>
              <a:rPr lang="en-US" sz="3700" b="1" dirty="0"/>
              <a:t>Transaction validation</a:t>
            </a:r>
            <a:r>
              <a:rPr lang="en-US" sz="3700" dirty="0"/>
              <a:t>: Transactions broadcast on the network are validated by full nodes by verifying and validating signatures and outputs.</a:t>
            </a:r>
          </a:p>
          <a:p>
            <a:pPr marL="0" indent="0">
              <a:buNone/>
            </a:pPr>
            <a:r>
              <a:rPr lang="en-US" sz="3700" dirty="0"/>
              <a:t>3. </a:t>
            </a:r>
            <a:r>
              <a:rPr lang="en-US" sz="3700" b="1" dirty="0"/>
              <a:t>Block validation</a:t>
            </a:r>
            <a:r>
              <a:rPr lang="en-US" sz="3700" dirty="0"/>
              <a:t>: Miners and full nodes can start validating blocks received by them by evaluating them against certain rules. This includes the verification of each transaction in the block along with verification of the nonce value.</a:t>
            </a:r>
          </a:p>
          <a:p>
            <a:pPr marL="0" indent="0">
              <a:buNone/>
            </a:pPr>
            <a:r>
              <a:rPr lang="en-US" sz="3700" dirty="0"/>
              <a:t>4. </a:t>
            </a:r>
            <a:r>
              <a:rPr lang="en-US" sz="3700" b="1" dirty="0"/>
              <a:t>Create a new block</a:t>
            </a:r>
            <a:r>
              <a:rPr lang="en-US" sz="3700" dirty="0"/>
              <a:t>: Miners propose a new block by combining transactions broadcast on the network after validating them.</a:t>
            </a:r>
          </a:p>
          <a:p>
            <a:pPr marL="0" indent="0">
              <a:buNone/>
            </a:pPr>
            <a:r>
              <a:rPr lang="en-US" sz="3700" dirty="0"/>
              <a:t>5. </a:t>
            </a:r>
            <a:r>
              <a:rPr lang="en-US" sz="3700" b="1" dirty="0"/>
              <a:t>Perform Proof of Work</a:t>
            </a:r>
            <a:r>
              <a:rPr lang="en-US" sz="3700" dirty="0"/>
              <a:t>: This task is the core of the mining process and this is where miners find a valid block by solving a computational puzzle. The block header contains a 32-bit nonce field and miners are required to repeatedly vary the nonce until the resultant hash is less than a predetermined target.</a:t>
            </a:r>
          </a:p>
          <a:p>
            <a:pPr marL="0" indent="0">
              <a:buNone/>
            </a:pPr>
            <a:r>
              <a:rPr lang="en-US" sz="3700" dirty="0"/>
              <a:t>6. </a:t>
            </a:r>
            <a:r>
              <a:rPr lang="en-US" sz="3700" b="1" dirty="0"/>
              <a:t>Fetch reward</a:t>
            </a:r>
            <a:r>
              <a:rPr lang="en-US" sz="3700" dirty="0"/>
              <a:t>: Once a node solves the hash puzzle (PoW), it immediately broadcasts the results, and other nodes verify it and accept the block. There is a slight chance that the newly minted block will not be accepted by other miners on the network due to a clash with another block found at roughly the same time, but once accepted, the miner is rewarded with 12.5 bitcoins and any associated transaction fees.</a:t>
            </a:r>
          </a:p>
        </p:txBody>
      </p:sp>
    </p:spTree>
    <p:extLst>
      <p:ext uri="{BB962C8B-B14F-4D97-AF65-F5344CB8AC3E}">
        <p14:creationId xmlns:p14="http://schemas.microsoft.com/office/powerpoint/2010/main" val="1611587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8FEFC-0576-6CC8-EC97-318B80DFD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6B36BC-0B50-F05D-6F6A-132B4D7ED83E}"/>
              </a:ext>
            </a:extLst>
          </p:cNvPr>
          <p:cNvSpPr>
            <a:spLocks noGrp="1"/>
          </p:cNvSpPr>
          <p:nvPr>
            <p:ph type="title"/>
          </p:nvPr>
        </p:nvSpPr>
        <p:spPr/>
        <p:txBody>
          <a:bodyPr>
            <a:normAutofit fontScale="90000"/>
          </a:bodyPr>
          <a:lstStyle/>
          <a:p>
            <a:r>
              <a:rPr lang="en-US" b="1" dirty="0"/>
              <a:t>Mining rewards</a:t>
            </a:r>
            <a:br>
              <a:rPr lang="en-US" b="1" dirty="0"/>
            </a:br>
            <a:endParaRPr lang="en-US" dirty="0"/>
          </a:p>
        </p:txBody>
      </p:sp>
      <p:sp>
        <p:nvSpPr>
          <p:cNvPr id="3" name="Content Placeholder 2">
            <a:extLst>
              <a:ext uri="{FF2B5EF4-FFF2-40B4-BE49-F238E27FC236}">
                <a16:creationId xmlns:a16="http://schemas.microsoft.com/office/drawing/2014/main" id="{1F505E7B-76F4-545B-4144-6138F42DE5B1}"/>
              </a:ext>
            </a:extLst>
          </p:cNvPr>
          <p:cNvSpPr>
            <a:spLocks noGrp="1"/>
          </p:cNvSpPr>
          <p:nvPr>
            <p:ph idx="1"/>
          </p:nvPr>
        </p:nvSpPr>
        <p:spPr>
          <a:xfrm>
            <a:off x="606392" y="2310064"/>
            <a:ext cx="11001675" cy="4769318"/>
          </a:xfrm>
        </p:spPr>
        <p:txBody>
          <a:bodyPr>
            <a:normAutofit/>
          </a:bodyPr>
          <a:lstStyle/>
          <a:p>
            <a:r>
              <a:rPr lang="en-US" dirty="0"/>
              <a:t>When Bitcoin started in 2009, the mining reward used to be 50 bitcoins. After every 210,000 blocks, the block reward halves. In November 2012, it was halved to 25 bitcoins. Currently, it is 12.5 BTC per block since July 2016. Next halving is on Friday, 12 June 2020, after which the block reward will be reduced to 6.25 BTC per block.</a:t>
            </a:r>
            <a:endParaRPr lang="en-US" sz="3700" dirty="0"/>
          </a:p>
        </p:txBody>
      </p:sp>
    </p:spTree>
    <p:extLst>
      <p:ext uri="{BB962C8B-B14F-4D97-AF65-F5344CB8AC3E}">
        <p14:creationId xmlns:p14="http://schemas.microsoft.com/office/powerpoint/2010/main" val="544509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46AF1-D953-D92D-95A2-B48E0AF97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1D306-020B-DADF-729C-3E98598E74FA}"/>
              </a:ext>
            </a:extLst>
          </p:cNvPr>
          <p:cNvSpPr>
            <a:spLocks noGrp="1"/>
          </p:cNvSpPr>
          <p:nvPr>
            <p:ph type="title"/>
          </p:nvPr>
        </p:nvSpPr>
        <p:spPr/>
        <p:txBody>
          <a:bodyPr>
            <a:normAutofit fontScale="90000"/>
          </a:bodyPr>
          <a:lstStyle/>
          <a:p>
            <a:r>
              <a:rPr lang="en-US" b="1" dirty="0"/>
              <a:t>Proof of Work (PoW)</a:t>
            </a:r>
            <a:br>
              <a:rPr lang="en-US" b="1" dirty="0"/>
            </a:br>
            <a:endParaRPr lang="en-US" dirty="0"/>
          </a:p>
        </p:txBody>
      </p:sp>
      <p:sp>
        <p:nvSpPr>
          <p:cNvPr id="3" name="Content Placeholder 2">
            <a:extLst>
              <a:ext uri="{FF2B5EF4-FFF2-40B4-BE49-F238E27FC236}">
                <a16:creationId xmlns:a16="http://schemas.microsoft.com/office/drawing/2014/main" id="{F35380CE-581D-3BA9-9BE5-A3F3CBE09817}"/>
              </a:ext>
            </a:extLst>
          </p:cNvPr>
          <p:cNvSpPr>
            <a:spLocks noGrp="1"/>
          </p:cNvSpPr>
          <p:nvPr>
            <p:ph idx="1"/>
          </p:nvPr>
        </p:nvSpPr>
        <p:spPr>
          <a:xfrm>
            <a:off x="606392" y="1540042"/>
            <a:ext cx="11001675" cy="4769318"/>
          </a:xfrm>
        </p:spPr>
        <p:txBody>
          <a:bodyPr>
            <a:normAutofit fontScale="85000" lnSpcReduction="20000"/>
          </a:bodyPr>
          <a:lstStyle/>
          <a:p>
            <a:pPr marL="0" indent="0">
              <a:buNone/>
            </a:pPr>
            <a:r>
              <a:rPr lang="en-US" dirty="0"/>
              <a:t>This is proof that enough computational resources have been spent in order to build a valid block. PoW is based on the idea that a random node is selected every time to create a new block. In this model, nodes compete with each other in order to be selected in proportion to their computing capacity. The following equation sums up the PoW requirement in Bitcoin:</a:t>
            </a:r>
          </a:p>
          <a:p>
            <a:pPr marL="0" indent="0">
              <a:buNone/>
            </a:pPr>
            <a:r>
              <a:rPr lang="en-US" i="1" dirty="0"/>
              <a:t>                            H ( N || </a:t>
            </a:r>
            <a:r>
              <a:rPr lang="en-US" i="1" dirty="0" err="1"/>
              <a:t>P_hash</a:t>
            </a:r>
            <a:r>
              <a:rPr lang="en-US" i="1" dirty="0"/>
              <a:t> || Tx || Tx || . . . Tx) &lt; Target</a:t>
            </a:r>
          </a:p>
          <a:p>
            <a:pPr marL="0" indent="0">
              <a:buNone/>
            </a:pPr>
            <a:r>
              <a:rPr lang="en-US" dirty="0"/>
              <a:t>Where </a:t>
            </a:r>
            <a:r>
              <a:rPr lang="en-US" i="1" dirty="0"/>
              <a:t>N </a:t>
            </a:r>
            <a:r>
              <a:rPr lang="en-US" dirty="0"/>
              <a:t>is a nonce, </a:t>
            </a:r>
            <a:r>
              <a:rPr lang="en-US" i="1" dirty="0" err="1"/>
              <a:t>P_hash</a:t>
            </a:r>
            <a:r>
              <a:rPr lang="en-US" i="1" dirty="0"/>
              <a:t> </a:t>
            </a:r>
            <a:r>
              <a:rPr lang="en-US" dirty="0"/>
              <a:t>is a hash of the previous block, </a:t>
            </a:r>
            <a:r>
              <a:rPr lang="en-US" i="1" dirty="0"/>
              <a:t>Tx </a:t>
            </a:r>
            <a:r>
              <a:rPr lang="en-US" dirty="0"/>
              <a:t>represents transactions in the block, and </a:t>
            </a:r>
            <a:r>
              <a:rPr lang="en-US" i="1" dirty="0"/>
              <a:t>Target </a:t>
            </a:r>
            <a:r>
              <a:rPr lang="en-US" dirty="0"/>
              <a:t>is the target network difficulty value. This means that the hash of the previously mentioned concatenated fields should be less than the target hash value.</a:t>
            </a:r>
          </a:p>
          <a:p>
            <a:pPr marL="0" indent="0">
              <a:buNone/>
            </a:pPr>
            <a:r>
              <a:rPr lang="en-US" dirty="0"/>
              <a:t>The only way to find this nonce is the brute force method. Once a miner meets a certain pattern of a certain number of zeroes, the block is immediately broadcast and accepted by other miners.</a:t>
            </a:r>
            <a:endParaRPr lang="en-US" sz="3700" dirty="0"/>
          </a:p>
        </p:txBody>
      </p:sp>
    </p:spTree>
    <p:extLst>
      <p:ext uri="{BB962C8B-B14F-4D97-AF65-F5344CB8AC3E}">
        <p14:creationId xmlns:p14="http://schemas.microsoft.com/office/powerpoint/2010/main" val="1921551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DB11B5-F15F-BC5A-F588-D7ACB0738D0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7233BAD-89DC-F4BA-AF48-548EA0E2FBBF}"/>
              </a:ext>
            </a:extLst>
          </p:cNvPr>
          <p:cNvSpPr>
            <a:spLocks noGrp="1"/>
          </p:cNvSpPr>
          <p:nvPr>
            <p:ph type="title"/>
          </p:nvPr>
        </p:nvSpPr>
        <p:spPr>
          <a:xfrm>
            <a:off x="841246" y="978619"/>
            <a:ext cx="5991244" cy="1106424"/>
          </a:xfrm>
        </p:spPr>
        <p:txBody>
          <a:bodyPr>
            <a:normAutofit/>
          </a:bodyPr>
          <a:lstStyle/>
          <a:p>
            <a:r>
              <a:rPr lang="en-US" sz="3200" b="1"/>
              <a:t>The mining algorithm</a:t>
            </a:r>
            <a:endParaRPr lang="en-US" sz="3200"/>
          </a:p>
        </p:txBody>
      </p:sp>
      <p:sp>
        <p:nvSpPr>
          <p:cNvPr id="14" name="Rectangle 1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CB116F7-369B-DF54-99A2-9420FBD39AA4}"/>
              </a:ext>
            </a:extLst>
          </p:cNvPr>
          <p:cNvSpPr>
            <a:spLocks noGrp="1"/>
          </p:cNvSpPr>
          <p:nvPr>
            <p:ph idx="1"/>
          </p:nvPr>
        </p:nvSpPr>
        <p:spPr>
          <a:xfrm>
            <a:off x="841248" y="2252870"/>
            <a:ext cx="5993892" cy="3560251"/>
          </a:xfrm>
        </p:spPr>
        <p:txBody>
          <a:bodyPr>
            <a:normAutofit/>
          </a:bodyPr>
          <a:lstStyle/>
          <a:p>
            <a:pPr marL="0" indent="0">
              <a:lnSpc>
                <a:spcPct val="100000"/>
              </a:lnSpc>
              <a:buNone/>
            </a:pPr>
            <a:r>
              <a:rPr lang="en-US" sz="1400" b="1"/>
              <a:t>The mining algorithm consists of the following steps.</a:t>
            </a:r>
          </a:p>
          <a:p>
            <a:pPr marL="0" indent="0">
              <a:lnSpc>
                <a:spcPct val="100000"/>
              </a:lnSpc>
              <a:buNone/>
            </a:pPr>
            <a:r>
              <a:rPr lang="en-US" sz="1400"/>
              <a:t>1. The previous block's header is retrieved from the Bitcoin network.</a:t>
            </a:r>
          </a:p>
          <a:p>
            <a:pPr marL="0" indent="0">
              <a:lnSpc>
                <a:spcPct val="100000"/>
              </a:lnSpc>
              <a:buNone/>
            </a:pPr>
            <a:r>
              <a:rPr lang="en-US" sz="1400"/>
              <a:t>2. Assemble a set of transactions broadcast on the network into a block to be proposed.</a:t>
            </a:r>
          </a:p>
          <a:p>
            <a:pPr marL="0" indent="0">
              <a:lnSpc>
                <a:spcPct val="100000"/>
              </a:lnSpc>
              <a:buNone/>
            </a:pPr>
            <a:r>
              <a:rPr lang="en-US" sz="1400"/>
              <a:t>3. Compute the double hash of the previous block's header combined with a nonce and the newly proposed block using the SHA-256 algorithm.</a:t>
            </a:r>
          </a:p>
          <a:p>
            <a:pPr marL="0" indent="0">
              <a:lnSpc>
                <a:spcPct val="100000"/>
              </a:lnSpc>
              <a:buNone/>
            </a:pPr>
            <a:r>
              <a:rPr lang="en-US" sz="1400"/>
              <a:t>4. Check if the resultant hash is lower than the current difficulty level (target) then PoW is solved. As a result of successful PoW, the discovered block is broadcast to the network, and miners fetch the reward.</a:t>
            </a:r>
          </a:p>
          <a:p>
            <a:pPr marL="0" indent="0">
              <a:lnSpc>
                <a:spcPct val="100000"/>
              </a:lnSpc>
              <a:buNone/>
            </a:pPr>
            <a:r>
              <a:rPr lang="en-US" sz="1400"/>
              <a:t>5. If the resultant hash is not less than the current difficulty level (target), then repeat the process after incrementing the nonce.</a:t>
            </a:r>
          </a:p>
        </p:txBody>
      </p:sp>
      <p:pic>
        <p:nvPicPr>
          <p:cNvPr id="5" name="Picture 4">
            <a:extLst>
              <a:ext uri="{FF2B5EF4-FFF2-40B4-BE49-F238E27FC236}">
                <a16:creationId xmlns:a16="http://schemas.microsoft.com/office/drawing/2014/main" id="{D7B691D2-BD92-E45A-EE37-1F6BC02E3704}"/>
              </a:ext>
            </a:extLst>
          </p:cNvPr>
          <p:cNvPicPr>
            <a:picLocks noChangeAspect="1"/>
          </p:cNvPicPr>
          <p:nvPr/>
        </p:nvPicPr>
        <p:blipFill>
          <a:blip r:embed="rId2"/>
          <a:stretch>
            <a:fillRect/>
          </a:stretch>
        </p:blipFill>
        <p:spPr>
          <a:xfrm>
            <a:off x="7679814" y="782596"/>
            <a:ext cx="4097657" cy="5192223"/>
          </a:xfrm>
          <a:prstGeom prst="rect">
            <a:avLst/>
          </a:prstGeom>
        </p:spPr>
      </p:pic>
    </p:spTree>
    <p:extLst>
      <p:ext uri="{BB962C8B-B14F-4D97-AF65-F5344CB8AC3E}">
        <p14:creationId xmlns:p14="http://schemas.microsoft.com/office/powerpoint/2010/main" val="2144788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2A460-5783-674E-FB2E-1181301BA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9AF87-7C27-354E-3B00-59BF6BB70AC8}"/>
              </a:ext>
            </a:extLst>
          </p:cNvPr>
          <p:cNvSpPr>
            <a:spLocks noGrp="1"/>
          </p:cNvSpPr>
          <p:nvPr>
            <p:ph type="title"/>
          </p:nvPr>
        </p:nvSpPr>
        <p:spPr/>
        <p:txBody>
          <a:bodyPr>
            <a:normAutofit fontScale="90000"/>
          </a:bodyPr>
          <a:lstStyle/>
          <a:p>
            <a:r>
              <a:rPr lang="en-US" b="1" dirty="0"/>
              <a:t>Mining systems</a:t>
            </a:r>
            <a:br>
              <a:rPr lang="en-US" b="1" dirty="0"/>
            </a:br>
            <a:endParaRPr lang="en-US" dirty="0"/>
          </a:p>
        </p:txBody>
      </p:sp>
      <p:sp>
        <p:nvSpPr>
          <p:cNvPr id="3" name="Content Placeholder 2">
            <a:extLst>
              <a:ext uri="{FF2B5EF4-FFF2-40B4-BE49-F238E27FC236}">
                <a16:creationId xmlns:a16="http://schemas.microsoft.com/office/drawing/2014/main" id="{A6C46EA8-9B02-078D-DECA-8E533C9952CC}"/>
              </a:ext>
            </a:extLst>
          </p:cNvPr>
          <p:cNvSpPr>
            <a:spLocks noGrp="1"/>
          </p:cNvSpPr>
          <p:nvPr>
            <p:ph idx="1"/>
          </p:nvPr>
        </p:nvSpPr>
        <p:spPr>
          <a:xfrm>
            <a:off x="606392" y="1540042"/>
            <a:ext cx="11001675" cy="4769318"/>
          </a:xfrm>
        </p:spPr>
        <p:txBody>
          <a:bodyPr>
            <a:normAutofit fontScale="92500" lnSpcReduction="20000"/>
          </a:bodyPr>
          <a:lstStyle/>
          <a:p>
            <a:pPr marL="0" indent="0">
              <a:buNone/>
            </a:pPr>
            <a:r>
              <a:rPr lang="en-US" b="1" dirty="0"/>
              <a:t>CPU</a:t>
            </a:r>
            <a:endParaRPr lang="en-US" dirty="0"/>
          </a:p>
          <a:p>
            <a:pPr marL="0" indent="0">
              <a:buNone/>
            </a:pPr>
            <a:r>
              <a:rPr lang="en-US" dirty="0"/>
              <a:t>Over time, bitcoin miners have used various methods to mine bitcoins. As the core principle of mining is based on the double SHA-256 algorithm, over time, experts have developed increasingly sophisticated systems to calculate hashes faster.</a:t>
            </a:r>
          </a:p>
          <a:p>
            <a:pPr marL="0" indent="0">
              <a:buNone/>
            </a:pPr>
            <a:r>
              <a:rPr lang="en-US" b="1" dirty="0"/>
              <a:t>GPU</a:t>
            </a:r>
          </a:p>
          <a:p>
            <a:pPr marL="0" indent="0">
              <a:buNone/>
            </a:pPr>
            <a:r>
              <a:rPr lang="en-US" dirty="0"/>
              <a:t>Due to the increased difficulty of the Bitcoin network and the general tendency to find faster methods to mine, miners started to use GPUs or graphics cards available in PCs to perform mining. GPUs support faster and parallelized calculations that are usually programmed using the OpenCL language. This turned out to be a faster option as compared to CPUs.</a:t>
            </a:r>
            <a:endParaRPr lang="en-US" sz="3700" dirty="0"/>
          </a:p>
        </p:txBody>
      </p:sp>
    </p:spTree>
    <p:extLst>
      <p:ext uri="{BB962C8B-B14F-4D97-AF65-F5344CB8AC3E}">
        <p14:creationId xmlns:p14="http://schemas.microsoft.com/office/powerpoint/2010/main" val="3560240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6A286-6099-D913-FAD9-A8D1AFAF0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5C394-FFD9-B776-1D0B-EE45E7D72274}"/>
              </a:ext>
            </a:extLst>
          </p:cNvPr>
          <p:cNvSpPr>
            <a:spLocks noGrp="1"/>
          </p:cNvSpPr>
          <p:nvPr>
            <p:ph type="title"/>
          </p:nvPr>
        </p:nvSpPr>
        <p:spPr/>
        <p:txBody>
          <a:bodyPr/>
          <a:lstStyle/>
          <a:p>
            <a:r>
              <a:rPr lang="en-US" b="1" dirty="0"/>
              <a:t>Mining pools</a:t>
            </a:r>
            <a:endParaRPr lang="en-US" dirty="0"/>
          </a:p>
        </p:txBody>
      </p:sp>
      <p:sp>
        <p:nvSpPr>
          <p:cNvPr id="3" name="Content Placeholder 2">
            <a:extLst>
              <a:ext uri="{FF2B5EF4-FFF2-40B4-BE49-F238E27FC236}">
                <a16:creationId xmlns:a16="http://schemas.microsoft.com/office/drawing/2014/main" id="{FC25915D-83B6-945B-2F3C-E7EF8EA30ECF}"/>
              </a:ext>
            </a:extLst>
          </p:cNvPr>
          <p:cNvSpPr>
            <a:spLocks noGrp="1"/>
          </p:cNvSpPr>
          <p:nvPr>
            <p:ph idx="1"/>
          </p:nvPr>
        </p:nvSpPr>
        <p:spPr>
          <a:xfrm>
            <a:off x="606392" y="1540042"/>
            <a:ext cx="11001675" cy="4769318"/>
          </a:xfrm>
        </p:spPr>
        <p:txBody>
          <a:bodyPr>
            <a:normAutofit/>
          </a:bodyPr>
          <a:lstStyle/>
          <a:p>
            <a:endParaRPr lang="en-US" b="1" dirty="0"/>
          </a:p>
          <a:p>
            <a:r>
              <a:rPr lang="en-US" dirty="0"/>
              <a:t>A mining pool forms when a group of miners works together to mine a block. The pool manager receives the Coinbase transaction if the block is successfully mined, which is then responsible for distributing the reward to the group of miners who invested resources to mine the block. This is profitable as compared to solo mining,</a:t>
            </a:r>
            <a:endParaRPr lang="en-US" sz="3700" dirty="0"/>
          </a:p>
        </p:txBody>
      </p:sp>
    </p:spTree>
    <p:extLst>
      <p:ext uri="{BB962C8B-B14F-4D97-AF65-F5344CB8AC3E}">
        <p14:creationId xmlns:p14="http://schemas.microsoft.com/office/powerpoint/2010/main" val="2109611864"/>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TotalTime>
  <Words>3145</Words>
  <Application>Microsoft Office PowerPoint</Application>
  <PresentationFormat>Widescreen</PresentationFormat>
  <Paragraphs>131</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Avenir Next LT Pro</vt:lpstr>
      <vt:lpstr>Calibri</vt:lpstr>
      <vt:lpstr>Times New Roman</vt:lpstr>
      <vt:lpstr>TimesNewRomanPS-BoldMT</vt:lpstr>
      <vt:lpstr>AccentBoxVTI</vt:lpstr>
      <vt:lpstr>Introducing Bitcoin</vt:lpstr>
      <vt:lpstr>Introducing Bitcoin </vt:lpstr>
      <vt:lpstr>Bitcoin definition </vt:lpstr>
      <vt:lpstr>Bitcoin – a bird's-eye view</vt:lpstr>
      <vt:lpstr>Sending a payment to someone </vt:lpstr>
      <vt:lpstr>PowerPoint Presentation</vt:lpstr>
      <vt:lpstr>PowerPoint Presentation</vt:lpstr>
      <vt:lpstr>PowerPoint Presentation</vt:lpstr>
      <vt:lpstr>Digital keys and addresses</vt:lpstr>
      <vt:lpstr>PowerPoint Presentation</vt:lpstr>
      <vt:lpstr>Addresses in Bitcoin </vt:lpstr>
      <vt:lpstr>Base58Check encoding </vt:lpstr>
      <vt:lpstr>Transactions </vt:lpstr>
      <vt:lpstr>The transaction life cycle </vt:lpstr>
      <vt:lpstr>PowerPoint Presentation</vt:lpstr>
      <vt:lpstr>PowerPoint Presentation</vt:lpstr>
      <vt:lpstr>The transaction data structure </vt:lpstr>
      <vt:lpstr>Types of transactions </vt:lpstr>
      <vt:lpstr>Transaction verification </vt:lpstr>
      <vt:lpstr>PowerPoint Presentation</vt:lpstr>
      <vt:lpstr>The structure of a block</vt:lpstr>
      <vt:lpstr>Mining </vt:lpstr>
      <vt:lpstr>Tasks of the miners</vt:lpstr>
      <vt:lpstr>Mining rewards </vt:lpstr>
      <vt:lpstr>Proof of Work (PoW) </vt:lpstr>
      <vt:lpstr>The mining algorithm</vt:lpstr>
      <vt:lpstr>Mining systems </vt:lpstr>
      <vt:lpstr>Mining pools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Nirmala S</dc:creator>
  <cp:lastModifiedBy>Nirmala S</cp:lastModifiedBy>
  <cp:revision>12</cp:revision>
  <dcterms:created xsi:type="dcterms:W3CDTF">2026-04-15T08:20:01Z</dcterms:created>
  <dcterms:modified xsi:type="dcterms:W3CDTF">2026-04-15T13:57:30Z</dcterms:modified>
</cp:coreProperties>
</file>